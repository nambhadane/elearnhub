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y="6858000" cx="9144000"/>
  <p:notesSz cx="7010400" cy="9296400"/>
  <p:embeddedFontLst>
    <p:embeddedFont>
      <p:font typeface="Helvetica Neue"/>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000000"/>
          </p15:clr>
        </p15:guide>
        <p15:guide id="2" pos="440">
          <p15:clr>
            <a:srgbClr val="000000"/>
          </p15:clr>
        </p15:guide>
      </p15:sldGuideLst>
    </p:ext>
    <p:ext uri="GoogleSlidesCustomDataVersion2">
      <go:slidesCustomData xmlns:go="http://customooxmlschemas.google.com/" r:id="rId57" roundtripDataSignature="AMtx7mjbOjUt1Ms1TE3u5bd021qL5Wp+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08ADB7-3FB5-4BC4-961A-DE2B5892779A}">
  <a:tblStyle styleId="{C908ADB7-3FB5-4BC4-961A-DE2B5892779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font" Target="fonts/HelveticaNeue-regular.fntdata"/><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HelveticaNeue-italic.fntdata"/><Relationship Id="rId10" Type="http://schemas.openxmlformats.org/officeDocument/2006/relationships/slide" Target="slides/slide3.xml"/><Relationship Id="rId54" Type="http://schemas.openxmlformats.org/officeDocument/2006/relationships/font" Target="fonts/HelveticaNeue-bold.fntdata"/><Relationship Id="rId13" Type="http://schemas.openxmlformats.org/officeDocument/2006/relationships/slide" Target="slides/slide6.xml"/><Relationship Id="rId57" Type="http://customschemas.google.com/relationships/presentationmetadata" Target="metadata"/><Relationship Id="rId12" Type="http://schemas.openxmlformats.org/officeDocument/2006/relationships/slide" Target="slides/slide5.xml"/><Relationship Id="rId56" Type="http://schemas.openxmlformats.org/officeDocument/2006/relationships/font" Target="fonts/HelveticaNeue-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6887" cy="463550"/>
          </a:xfrm>
          <a:prstGeom prst="rect">
            <a:avLst/>
          </a:prstGeom>
          <a:noFill/>
          <a:ln>
            <a:noFill/>
          </a:ln>
        </p:spPr>
        <p:txBody>
          <a:bodyPr anchorCtr="0" anchor="ctr" bIns="46575" lIns="93150" spcFirstLastPara="1" rIns="93150" wrap="square" tIns="4657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9pPr>
          </a:lstStyle>
          <a:p/>
        </p:txBody>
      </p:sp>
      <p:sp>
        <p:nvSpPr>
          <p:cNvPr id="4" name="Google Shape;4;n"/>
          <p:cNvSpPr txBox="1"/>
          <p:nvPr>
            <p:ph idx="10" type="dt"/>
          </p:nvPr>
        </p:nvSpPr>
        <p:spPr>
          <a:xfrm>
            <a:off x="3973512" y="0"/>
            <a:ext cx="3036887" cy="463550"/>
          </a:xfrm>
          <a:prstGeom prst="rect">
            <a:avLst/>
          </a:prstGeom>
          <a:noFill/>
          <a:ln>
            <a:noFill/>
          </a:ln>
        </p:spPr>
        <p:txBody>
          <a:bodyPr anchorCtr="0" anchor="ctr" bIns="46575" lIns="93150" spcFirstLastPara="1" rIns="93150" wrap="square" tIns="4657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9pPr>
          </a:lstStyle>
          <a:p/>
        </p:txBody>
      </p:sp>
      <p:sp>
        <p:nvSpPr>
          <p:cNvPr id="5" name="Google Shape;5;n"/>
          <p:cNvSpPr/>
          <p:nvPr>
            <p:ph idx="3"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32850"/>
            <a:ext cx="3036887" cy="463550"/>
          </a:xfrm>
          <a:prstGeom prst="rect">
            <a:avLst/>
          </a:prstGeom>
          <a:noFill/>
          <a:ln>
            <a:noFill/>
          </a:ln>
        </p:spPr>
        <p:txBody>
          <a:bodyPr anchorCtr="0" anchor="b" bIns="46575" lIns="93150" spcFirstLastPara="1" rIns="93150" wrap="square" tIns="4657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9pPr>
          </a:lstStyle>
          <a:p/>
        </p:txBody>
      </p:sp>
      <p:sp>
        <p:nvSpPr>
          <p:cNvPr id="8" name="Google Shape;8;n"/>
          <p:cNvSpPr txBox="1"/>
          <p:nvPr>
            <p:ph idx="12" type="sldNum"/>
          </p:nvPr>
        </p:nvSpPr>
        <p:spPr>
          <a:xfrm>
            <a:off x="3973512" y="8832850"/>
            <a:ext cx="3036887" cy="463550"/>
          </a:xfrm>
          <a:prstGeom prst="rect">
            <a:avLst/>
          </a:prstGeom>
          <a:noFill/>
          <a:ln>
            <a:noFill/>
          </a:ln>
        </p:spPr>
        <p:txBody>
          <a:bodyPr anchorCtr="0" anchor="b" bIns="46575" lIns="93150" spcFirstLastPara="1" rIns="93150" wrap="square" tIns="4657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nvSpPr>
        <p:spPr>
          <a:xfrm>
            <a:off x="3973512" y="8832850"/>
            <a:ext cx="3036887" cy="463550"/>
          </a:xfrm>
          <a:prstGeom prst="rect">
            <a:avLst/>
          </a:prstGeom>
          <a:noFill/>
          <a:ln>
            <a:noFill/>
          </a:ln>
        </p:spPr>
        <p:txBody>
          <a:bodyPr anchorCtr="0" anchor="b" bIns="46575" lIns="93150" spcFirstLastPara="1" rIns="93150" wrap="square" tIns="4657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91" name="Google Shape;91;p1: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1: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2fb1bf6cd_0_0:notes"/>
          <p:cNvSpPr/>
          <p:nvPr>
            <p:ph idx="2" type="sldImg"/>
          </p:nvPr>
        </p:nvSpPr>
        <p:spPr>
          <a:xfrm>
            <a:off x="1182687" y="698500"/>
            <a:ext cx="4646700" cy="34863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2fb1bf6cd_0_0:notes"/>
          <p:cNvSpPr txBox="1"/>
          <p:nvPr>
            <p:ph idx="1" type="body"/>
          </p:nvPr>
        </p:nvSpPr>
        <p:spPr>
          <a:xfrm>
            <a:off x="935037" y="4416425"/>
            <a:ext cx="5140200" cy="4181400"/>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98" name="Google Shape;98;g372fb1bf6cd_0_0:notes"/>
          <p:cNvSpPr txBox="1"/>
          <p:nvPr>
            <p:ph idx="12" type="sldNum"/>
          </p:nvPr>
        </p:nvSpPr>
        <p:spPr>
          <a:xfrm>
            <a:off x="3973512" y="8832850"/>
            <a:ext cx="3036900" cy="463500"/>
          </a:xfrm>
          <a:prstGeom prst="rect">
            <a:avLst/>
          </a:prstGeom>
        </p:spPr>
        <p:txBody>
          <a:bodyPr anchorCtr="0" anchor="b" bIns="46575" lIns="93150" spcFirstLastPara="1" rIns="93150" wrap="square" tIns="4657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2: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3: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4: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6: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7: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0: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3: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4: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6: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89" name="Google Shape;189;p16: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195" name="Google Shape;195;p17: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01" name="Google Shape;201;p18: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20: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21: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21" name="Google Shape;221;p22: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27" name="Google Shape;227;p23: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4: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33" name="Google Shape;233;p24: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39" name="Google Shape;239;p25: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26: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7: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52" name="Google Shape;252;p27: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8: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58" name="Google Shape;258;p28: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9: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9: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0: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30: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1: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31: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2: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32: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83" name="Google Shape;283;p32:notes"/>
          <p:cNvSpPr txBox="1"/>
          <p:nvPr/>
        </p:nvSpPr>
        <p:spPr>
          <a:xfrm>
            <a:off x="3973512" y="8832850"/>
            <a:ext cx="3036887" cy="463550"/>
          </a:xfrm>
          <a:prstGeom prst="rect">
            <a:avLst/>
          </a:prstGeom>
          <a:noFill/>
          <a:ln>
            <a:noFill/>
          </a:ln>
        </p:spPr>
        <p:txBody>
          <a:bodyPr anchorCtr="0" anchor="b" bIns="46575" lIns="93150" spcFirstLastPara="1" rIns="93150" wrap="square" tIns="4657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3: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89" name="Google Shape;289;p33: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4: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296" name="Google Shape;296;p34: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5: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301" name="Google Shape;301;p35: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6: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306" name="Google Shape;306;p36: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7: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312" name="Google Shape;312;p37: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8: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38: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9: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39: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0: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40: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75b3b31828_0_0:notes"/>
          <p:cNvSpPr/>
          <p:nvPr>
            <p:ph idx="2" type="sldImg"/>
          </p:nvPr>
        </p:nvSpPr>
        <p:spPr>
          <a:xfrm>
            <a:off x="1182687" y="698500"/>
            <a:ext cx="4646700" cy="34863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75b3b31828_0_0:notes"/>
          <p:cNvSpPr txBox="1"/>
          <p:nvPr>
            <p:ph idx="1" type="body"/>
          </p:nvPr>
        </p:nvSpPr>
        <p:spPr>
          <a:xfrm>
            <a:off x="935037" y="4416425"/>
            <a:ext cx="5140200" cy="4181400"/>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337" name="Google Shape;337;g375b3b31828_0_0:notes"/>
          <p:cNvSpPr txBox="1"/>
          <p:nvPr>
            <p:ph idx="12" type="sldNum"/>
          </p:nvPr>
        </p:nvSpPr>
        <p:spPr>
          <a:xfrm>
            <a:off x="3973512" y="8832850"/>
            <a:ext cx="3036900" cy="463500"/>
          </a:xfrm>
          <a:prstGeom prst="rect">
            <a:avLst/>
          </a:prstGeom>
        </p:spPr>
        <p:txBody>
          <a:bodyPr anchorCtr="0" anchor="b" bIns="46575" lIns="93150" spcFirstLastPara="1" rIns="93150" wrap="square" tIns="4657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1: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41: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2: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42: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3: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43:notes"/>
          <p:cNvSpPr txBox="1"/>
          <p:nvPr>
            <p:ph idx="1" type="body"/>
          </p:nvPr>
        </p:nvSpPr>
        <p:spPr>
          <a:xfrm>
            <a:off x="935037"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4:notes"/>
          <p:cNvSpPr txBox="1"/>
          <p:nvPr>
            <p:ph idx="1" type="body"/>
          </p:nvPr>
        </p:nvSpPr>
        <p:spPr>
          <a:xfrm>
            <a:off x="935037" y="4416425"/>
            <a:ext cx="5140325" cy="4181475"/>
          </a:xfrm>
          <a:prstGeom prst="rect">
            <a:avLst/>
          </a:prstGeom>
        </p:spPr>
        <p:txBody>
          <a:bodyPr anchorCtr="0" anchor="ctr" bIns="46575" lIns="93150" spcFirstLastPara="1" rIns="93150" wrap="square" tIns="46575">
            <a:noAutofit/>
          </a:bodyPr>
          <a:lstStyle/>
          <a:p>
            <a:pPr indent="0" lvl="0" marL="0" rtl="0" algn="l">
              <a:spcBef>
                <a:spcPts val="0"/>
              </a:spcBef>
              <a:spcAft>
                <a:spcPts val="0"/>
              </a:spcAft>
              <a:buNone/>
            </a:pPr>
            <a:r>
              <a:t/>
            </a:r>
            <a:endParaRPr/>
          </a:p>
        </p:txBody>
      </p:sp>
      <p:sp>
        <p:nvSpPr>
          <p:cNvPr id="362" name="Google Shape;362;p44:notes"/>
          <p:cNvSpPr/>
          <p:nvPr>
            <p:ph idx="2" type="sldImg"/>
          </p:nvPr>
        </p:nvSpPr>
        <p:spPr>
          <a:xfrm>
            <a:off x="1182687"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2" name="Shape 12"/>
        <p:cNvGrpSpPr/>
        <p:nvPr/>
      </p:nvGrpSpPr>
      <p:grpSpPr>
        <a:xfrm>
          <a:off x="0" y="0"/>
          <a:ext cx="0" cy="0"/>
          <a:chOff x="0" y="0"/>
          <a:chExt cx="0" cy="0"/>
        </a:xfrm>
      </p:grpSpPr>
      <p:sp>
        <p:nvSpPr>
          <p:cNvPr id="13" name="Google Shape;13;p46"/>
          <p:cNvSpPr txBox="1"/>
          <p:nvPr>
            <p:ph type="ctrTitle"/>
          </p:nvPr>
        </p:nvSpPr>
        <p:spPr>
          <a:xfrm>
            <a:off x="685800" y="685800"/>
            <a:ext cx="7772400" cy="21272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sz="43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2" name="Google Shape;22;p4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 name="Google Shape;23;p4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49"/>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 name="Google Shape;28;p4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50"/>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50"/>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 name="Google Shape;34;p5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51"/>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51"/>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5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5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 name="Google Shape;45;p52"/>
          <p:cNvSpPr/>
          <p:nvPr>
            <p:ph idx="2" type="pic"/>
          </p:nvPr>
        </p:nvSpPr>
        <p:spPr>
          <a:xfrm>
            <a:off x="3887391" y="987426"/>
            <a:ext cx="4629150" cy="4873625"/>
          </a:xfrm>
          <a:prstGeom prst="rect">
            <a:avLst/>
          </a:prstGeom>
          <a:noFill/>
          <a:ln>
            <a:noFill/>
          </a:ln>
        </p:spPr>
      </p:sp>
      <p:sp>
        <p:nvSpPr>
          <p:cNvPr id="46" name="Google Shape;46;p5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7" name="Google Shape;47;p5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5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2" name="Google Shape;52;p53"/>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3" name="Google Shape;53;p5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4" name="Google Shape;54;p5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5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55"/>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5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4" name="Google Shape;64;p5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 name="Google Shape;65;p5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6" name="Google Shape;66;p5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 name="Google Shape;67;p5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0" name="Shape 70"/>
        <p:cNvGrpSpPr/>
        <p:nvPr/>
      </p:nvGrpSpPr>
      <p:grpSpPr>
        <a:xfrm>
          <a:off x="0" y="0"/>
          <a:ext cx="0" cy="0"/>
          <a:chOff x="0" y="0"/>
          <a:chExt cx="0" cy="0"/>
        </a:xfrm>
      </p:grpSpPr>
      <p:sp>
        <p:nvSpPr>
          <p:cNvPr id="71" name="Google Shape;71;p5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2" name="Google Shape;72;p56"/>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 name="Google Shape;73;p56"/>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5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5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9" name="Google Shape;79;p5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0" name="Google Shape;80;p5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3" name="Shape 83"/>
        <p:cNvGrpSpPr/>
        <p:nvPr/>
      </p:nvGrpSpPr>
      <p:grpSpPr>
        <a:xfrm>
          <a:off x="0" y="0"/>
          <a:ext cx="0" cy="0"/>
          <a:chOff x="0" y="0"/>
          <a:chExt cx="0" cy="0"/>
        </a:xfrm>
      </p:grpSpPr>
      <p:sp>
        <p:nvSpPr>
          <p:cNvPr id="84" name="Google Shape;84;p58"/>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5" name="Google Shape;85;p58"/>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86" name="Google Shape;86;p5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5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1pPr>
            <a:lvl2pPr indent="0" lvl="1"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2pPr>
            <a:lvl3pPr indent="0" lvl="2"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3pPr>
            <a:lvl4pPr indent="0" lvl="3"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4pPr>
            <a:lvl5pPr indent="0" lvl="4"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5pPr>
            <a:lvl6pPr indent="0" lvl="5"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6pPr>
            <a:lvl7pPr indent="0" lvl="6"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7pPr>
            <a:lvl8pPr indent="0" lvl="7"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8pPr>
            <a:lvl9pPr indent="0" lvl="8" marL="0" marR="0" algn="r">
              <a:lnSpc>
                <a:spcPct val="100000"/>
              </a:lnSpc>
              <a:spcBef>
                <a:spcPts val="0"/>
              </a:spcBef>
              <a:spcAft>
                <a:spcPts val="0"/>
              </a:spcAft>
              <a:buClr>
                <a:srgbClr val="898989"/>
              </a:buClr>
              <a:buSzPts val="900"/>
              <a:buFont typeface="Verdana"/>
              <a:buNone/>
              <a:defRPr b="0" i="0" sz="900" u="non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1" name="Google Shape;11;p45"/>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4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6" name="Google Shape;16;p47"/>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 name="Google Shape;17;p4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98989"/>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 name="Google Shape;18;p4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9" name="Google Shape;19;p4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1pPr>
            <a:lvl2pPr indent="0" lvl="1"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2pPr>
            <a:lvl3pPr indent="0" lvl="2"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3pPr>
            <a:lvl4pPr indent="0" lvl="3"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4pPr>
            <a:lvl5pPr indent="0" lvl="4"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5pPr>
            <a:lvl6pPr indent="0" lvl="5"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6pPr>
            <a:lvl7pPr indent="0" lvl="6"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7pPr>
            <a:lvl8pPr indent="0" lvl="7"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8pPr>
            <a:lvl9pPr indent="0" lvl="8" marL="0" marR="0" rtl="0" algn="r">
              <a:lnSpc>
                <a:spcPct val="100000"/>
              </a:lnSpc>
              <a:spcBef>
                <a:spcPts val="0"/>
              </a:spcBef>
              <a:spcAft>
                <a:spcPts val="0"/>
              </a:spcAft>
              <a:buClr>
                <a:srgbClr val="898989"/>
              </a:buClr>
              <a:buSzPts val="900"/>
              <a:buFont typeface="Verdana"/>
              <a:buNone/>
              <a:defRPr b="0" i="0" sz="900" u="none" cap="none" strike="noStrike">
                <a:solidFill>
                  <a:srgbClr val="898989"/>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ctrTitle"/>
          </p:nvPr>
        </p:nvSpPr>
        <p:spPr>
          <a:xfrm>
            <a:off x="371475" y="1831975"/>
            <a:ext cx="84582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rPr b="1" i="0" lang="en-US" sz="6000" u="none">
                <a:solidFill>
                  <a:schemeClr val="dk1"/>
                </a:solidFill>
                <a:latin typeface="Calibri"/>
                <a:ea typeface="Calibri"/>
                <a:cs typeface="Calibri"/>
                <a:sym typeface="Calibri"/>
              </a:rPr>
              <a:t>Processes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72fb1bf6cd_0_0"/>
          <p:cNvSpPr txBox="1"/>
          <p:nvPr>
            <p:ph type="ctrTitle"/>
          </p:nvPr>
        </p:nvSpPr>
        <p:spPr>
          <a:xfrm>
            <a:off x="685800" y="685800"/>
            <a:ext cx="7772400" cy="2127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OS </a:t>
            </a:r>
            <a:endParaRPr/>
          </a:p>
          <a:p>
            <a:pPr indent="0" lvl="0" marL="0" rtl="0" algn="l">
              <a:spcBef>
                <a:spcPts val="0"/>
              </a:spcBef>
              <a:spcAft>
                <a:spcPts val="0"/>
              </a:spcAft>
              <a:buNone/>
            </a:pPr>
            <a:r>
              <a:rPr lang="en-US"/>
              <a:t>Kernel</a:t>
            </a:r>
            <a:endParaRPr/>
          </a:p>
          <a:p>
            <a:pPr indent="0" lvl="0" marL="0" rtl="0" algn="l">
              <a:spcBef>
                <a:spcPts val="0"/>
              </a:spcBef>
              <a:spcAft>
                <a:spcPts val="0"/>
              </a:spcAft>
              <a:buNone/>
            </a:pPr>
            <a:r>
              <a:rPr lang="en-US"/>
              <a:t>Functionalities </a:t>
            </a:r>
            <a:endParaRPr/>
          </a:p>
          <a:p>
            <a:pPr indent="0" lvl="0" marL="0" rtl="0" algn="l">
              <a:spcBef>
                <a:spcPts val="0"/>
              </a:spcBef>
              <a:spcAft>
                <a:spcPts val="0"/>
              </a:spcAft>
              <a:buNone/>
            </a:pPr>
            <a:r>
              <a:rPr lang="en-US"/>
              <a:t>User space and kernel space</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1404937" y="639762"/>
            <a:ext cx="6380162" cy="5762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Processes</a:t>
            </a:r>
            <a:endParaRPr/>
          </a:p>
        </p:txBody>
      </p:sp>
      <p:sp>
        <p:nvSpPr>
          <p:cNvPr id="106" name="Google Shape;106;p2"/>
          <p:cNvSpPr txBox="1"/>
          <p:nvPr>
            <p:ph idx="1" type="body"/>
          </p:nvPr>
        </p:nvSpPr>
        <p:spPr>
          <a:xfrm>
            <a:off x="752475" y="1555750"/>
            <a:ext cx="7370762" cy="3822700"/>
          </a:xfrm>
          <a:prstGeom prst="rect">
            <a:avLst/>
          </a:prstGeom>
          <a:noFill/>
          <a:ln>
            <a:noFill/>
          </a:ln>
        </p:spPr>
        <p:txBody>
          <a:bodyPr anchorCtr="0" anchor="t" bIns="45700" lIns="91425" spcFirstLastPara="1" rIns="91425" wrap="square" tIns="45700">
            <a:normAutofit/>
          </a:bodyPr>
          <a:lstStyle/>
          <a:p>
            <a:pPr indent="-203200" lvl="0" marL="171450"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Process Concept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Process Scheduler</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Operations on Processes</a:t>
            </a:r>
            <a:endParaRPr/>
          </a:p>
          <a:p>
            <a:pPr indent="0" lvl="0" marL="171450" marR="0" rtl="0" algn="l">
              <a:lnSpc>
                <a:spcPct val="90000"/>
              </a:lnSpc>
              <a:spcBef>
                <a:spcPts val="75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457200" y="198437"/>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Outcomes</a:t>
            </a:r>
            <a:endParaRPr/>
          </a:p>
        </p:txBody>
      </p:sp>
      <p:sp>
        <p:nvSpPr>
          <p:cNvPr id="112" name="Google Shape;112;p3"/>
          <p:cNvSpPr txBox="1"/>
          <p:nvPr>
            <p:ph idx="1" type="body"/>
          </p:nvPr>
        </p:nvSpPr>
        <p:spPr>
          <a:xfrm>
            <a:off x="261937" y="1911350"/>
            <a:ext cx="8424862" cy="453072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rgbClr val="F5F5F5"/>
              </a:buClr>
              <a:buSzPts val="3600"/>
              <a:buFont typeface="Noto Sans Symbols"/>
              <a:buChar char="►"/>
            </a:pPr>
            <a:r>
              <a:rPr b="0" i="0" lang="en-US" sz="3600" u="none">
                <a:solidFill>
                  <a:schemeClr val="dk1"/>
                </a:solidFill>
                <a:latin typeface="Calibri"/>
                <a:ea typeface="Calibri"/>
                <a:cs typeface="Calibri"/>
                <a:sym typeface="Calibri"/>
              </a:rPr>
              <a:t>Learn the basic concepts of Process and its components.</a:t>
            </a:r>
            <a:endParaRPr/>
          </a:p>
          <a:p>
            <a:pPr indent="-342900" lvl="0" marL="342900" marR="0" rtl="0" algn="l">
              <a:lnSpc>
                <a:spcPct val="90000"/>
              </a:lnSpc>
              <a:spcBef>
                <a:spcPts val="700"/>
              </a:spcBef>
              <a:spcAft>
                <a:spcPts val="0"/>
              </a:spcAft>
              <a:buClr>
                <a:srgbClr val="F5F5F5"/>
              </a:buClr>
              <a:buSzPts val="3600"/>
              <a:buFont typeface="Noto Sans Symbols"/>
              <a:buChar char="►"/>
            </a:pPr>
            <a:r>
              <a:rPr b="0" i="0" lang="en-US" sz="3600" u="none">
                <a:solidFill>
                  <a:schemeClr val="dk1"/>
                </a:solidFill>
                <a:latin typeface="Calibri"/>
                <a:ea typeface="Calibri"/>
                <a:cs typeface="Calibri"/>
                <a:sym typeface="Calibri"/>
              </a:rPr>
              <a:t>State the Process life cycle.</a:t>
            </a:r>
            <a:endParaRPr/>
          </a:p>
          <a:p>
            <a:pPr indent="-342900" lvl="0" marL="342900" marR="0" rtl="0" algn="l">
              <a:lnSpc>
                <a:spcPct val="90000"/>
              </a:lnSpc>
              <a:spcBef>
                <a:spcPts val="700"/>
              </a:spcBef>
              <a:spcAft>
                <a:spcPts val="0"/>
              </a:spcAft>
              <a:buClr>
                <a:srgbClr val="F5F5F5"/>
              </a:buClr>
              <a:buSzPts val="3600"/>
              <a:buFont typeface="Noto Sans Symbols"/>
              <a:buChar char="►"/>
            </a:pPr>
            <a:r>
              <a:rPr b="0" i="0" lang="en-US" sz="3600" u="none">
                <a:solidFill>
                  <a:schemeClr val="dk1"/>
                </a:solidFill>
                <a:latin typeface="Calibri"/>
                <a:ea typeface="Calibri"/>
                <a:cs typeface="Calibri"/>
                <a:sym typeface="Calibri"/>
              </a:rPr>
              <a:t>Explain operation on process</a:t>
            </a:r>
            <a:endParaRPr b="0" i="0" sz="3600" u="none">
              <a:solidFill>
                <a:schemeClr val="dk1"/>
              </a:solidFill>
              <a:latin typeface="Calibri"/>
              <a:ea typeface="Calibri"/>
              <a:cs typeface="Calibri"/>
              <a:sym typeface="Calibri"/>
            </a:endParaRPr>
          </a:p>
          <a:p>
            <a:pPr indent="0" lvl="0" marL="171450" marR="0" rtl="0" algn="l">
              <a:lnSpc>
                <a:spcPct val="90000"/>
              </a:lnSpc>
              <a:spcBef>
                <a:spcPts val="750"/>
              </a:spcBef>
              <a:spcAft>
                <a:spcPts val="0"/>
              </a:spcAft>
              <a:buClr>
                <a:schemeClr val="dk1"/>
              </a:buClr>
              <a:buSzPts val="3600"/>
              <a:buFont typeface="Arial"/>
              <a:buNone/>
            </a:pPr>
            <a:r>
              <a:t/>
            </a:r>
            <a:endParaRPr b="0" i="0" sz="360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2774950" y="90487"/>
            <a:ext cx="3365500"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Concept</a:t>
            </a:r>
            <a:endParaRPr/>
          </a:p>
        </p:txBody>
      </p:sp>
      <p:sp>
        <p:nvSpPr>
          <p:cNvPr id="118" name="Google Shape;118;p4"/>
          <p:cNvSpPr txBox="1"/>
          <p:nvPr>
            <p:ph idx="1" type="body"/>
          </p:nvPr>
        </p:nvSpPr>
        <p:spPr>
          <a:xfrm>
            <a:off x="0" y="590550"/>
            <a:ext cx="8915400" cy="6442075"/>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An operating system executes a variety of programs:</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Batch system – jobs</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Time-shared systems – user programs or tasks</a:t>
            </a:r>
            <a:endParaRPr/>
          </a:p>
          <a:p>
            <a:pPr indent="-177800" lvl="0" marL="171450" marR="0" rtl="0" algn="l">
              <a:lnSpc>
                <a:spcPct val="90000"/>
              </a:lnSpc>
              <a:spcBef>
                <a:spcPts val="70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Textbook uses the terms </a:t>
            </a:r>
            <a:r>
              <a:rPr b="1" i="1" lang="en-US" sz="2800" u="none">
                <a:solidFill>
                  <a:schemeClr val="dk1"/>
                </a:solidFill>
                <a:latin typeface="Calibri"/>
                <a:ea typeface="Calibri"/>
                <a:cs typeface="Calibri"/>
                <a:sym typeface="Calibri"/>
              </a:rPr>
              <a:t>job</a:t>
            </a:r>
            <a:r>
              <a:rPr b="1" i="0" lang="en-US" sz="2800" u="none">
                <a:solidFill>
                  <a:schemeClr val="dk1"/>
                </a:solidFill>
                <a:latin typeface="Calibri"/>
                <a:ea typeface="Calibri"/>
                <a:cs typeface="Calibri"/>
                <a:sym typeface="Calibri"/>
              </a:rPr>
              <a:t> and </a:t>
            </a:r>
            <a:r>
              <a:rPr b="1" i="1" lang="en-US" sz="2800" u="none">
                <a:solidFill>
                  <a:schemeClr val="dk1"/>
                </a:solidFill>
                <a:latin typeface="Calibri"/>
                <a:ea typeface="Calibri"/>
                <a:cs typeface="Calibri"/>
                <a:sym typeface="Calibri"/>
              </a:rPr>
              <a:t>process</a:t>
            </a:r>
            <a:r>
              <a:rPr b="1" i="0" lang="en-US" sz="2800" u="none">
                <a:solidFill>
                  <a:schemeClr val="dk1"/>
                </a:solidFill>
                <a:latin typeface="Calibri"/>
                <a:ea typeface="Calibri"/>
                <a:cs typeface="Calibri"/>
                <a:sym typeface="Calibri"/>
              </a:rPr>
              <a:t> almost interchangeably</a:t>
            </a:r>
            <a:endParaRPr/>
          </a:p>
          <a:p>
            <a:pPr indent="-177800" lvl="0" marL="171450" marR="0" rtl="0" algn="l">
              <a:lnSpc>
                <a:spcPct val="90000"/>
              </a:lnSpc>
              <a:spcBef>
                <a:spcPts val="70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Process – </a:t>
            </a:r>
            <a:r>
              <a:rPr i="0" lang="en-US" sz="2800" u="none">
                <a:solidFill>
                  <a:schemeClr val="dk1"/>
                </a:solidFill>
              </a:rPr>
              <a:t>a program in execution; process execution must progress in sequential fashion</a:t>
            </a:r>
            <a:endParaRPr/>
          </a:p>
          <a:p>
            <a:pPr indent="-177800" lvl="0" marL="171450" marR="0" rtl="0" algn="l">
              <a:lnSpc>
                <a:spcPct val="90000"/>
              </a:lnSpc>
              <a:spcBef>
                <a:spcPts val="70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Multiple parts</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The program code, also called text section</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Current activity including program counter, processor registers</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Stack containing temporary data</a:t>
            </a:r>
            <a:endParaRPr/>
          </a:p>
          <a:p>
            <a:pPr indent="-171450" lvl="2" marL="857250" marR="0" rtl="0" algn="l">
              <a:lnSpc>
                <a:spcPct val="90000"/>
              </a:lnSpc>
              <a:spcBef>
                <a:spcPts val="300"/>
              </a:spcBef>
              <a:spcAft>
                <a:spcPts val="0"/>
              </a:spcAft>
              <a:buClr>
                <a:schemeClr val="dk1"/>
              </a:buClr>
              <a:buSzPts val="1800"/>
              <a:buChar char="•"/>
            </a:pPr>
            <a:r>
              <a:rPr i="0" lang="en-US" sz="1800" u="none" cap="none" strike="noStrike">
                <a:solidFill>
                  <a:schemeClr val="dk1"/>
                </a:solidFill>
              </a:rPr>
              <a:t>Function parameters, return addresses, local variables</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Data section containing global variables</a:t>
            </a:r>
            <a:endParaRPr/>
          </a:p>
          <a:p>
            <a:pPr indent="-171450" lvl="1" marL="514350" marR="0" rtl="0" algn="l">
              <a:lnSpc>
                <a:spcPct val="90000"/>
              </a:lnSpc>
              <a:spcBef>
                <a:spcPts val="300"/>
              </a:spcBef>
              <a:spcAft>
                <a:spcPts val="0"/>
              </a:spcAft>
              <a:buClr>
                <a:schemeClr val="dk1"/>
              </a:buClr>
              <a:buSzPts val="2400"/>
              <a:buChar char="•"/>
            </a:pPr>
            <a:r>
              <a:rPr i="0" lang="en-US" sz="2400" u="none" cap="none" strike="noStrike">
                <a:solidFill>
                  <a:schemeClr val="dk1"/>
                </a:solidFill>
              </a:rPr>
              <a:t>Heap containing memory dynamically allocated during run time</a:t>
            </a:r>
            <a:endParaRPr/>
          </a:p>
          <a:p>
            <a:pPr indent="-171450" lvl="0" marL="171450" marR="0" rtl="0" algn="l">
              <a:lnSpc>
                <a:spcPct val="90000"/>
              </a:lnSpc>
              <a:spcBef>
                <a:spcPts val="700"/>
              </a:spcBef>
              <a:spcAft>
                <a:spcPts val="0"/>
              </a:spcAft>
              <a:buClr>
                <a:schemeClr val="dk1"/>
              </a:buClr>
              <a:buSzPts val="2100"/>
              <a:buFont typeface="Arial"/>
              <a:buNone/>
            </a:pPr>
            <a:r>
              <a:t/>
            </a:r>
            <a:endParaRPr b="1" i="0" sz="2100" u="none">
              <a:solidFill>
                <a:schemeClr val="dk1"/>
              </a:solidFill>
              <a:latin typeface="Calibri"/>
              <a:ea typeface="Calibri"/>
              <a:cs typeface="Calibri"/>
              <a:sym typeface="Calibri"/>
            </a:endParaRPr>
          </a:p>
          <a:p>
            <a:pPr indent="-38100" lvl="0" marL="171450" marR="0" rtl="0" algn="l">
              <a:lnSpc>
                <a:spcPct val="90000"/>
              </a:lnSpc>
              <a:spcBef>
                <a:spcPts val="750"/>
              </a:spcBef>
              <a:spcAft>
                <a:spcPts val="0"/>
              </a:spcAft>
              <a:buClr>
                <a:schemeClr val="dk1"/>
              </a:buClr>
              <a:buSzPts val="2100"/>
              <a:buFont typeface="Arial"/>
              <a:buNone/>
            </a:pPr>
            <a:r>
              <a:t/>
            </a:r>
            <a:endParaRPr b="1" i="0" sz="2100" u="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1576387" y="155575"/>
            <a:ext cx="6107112" cy="5762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Process Concept (Cont.)</a:t>
            </a:r>
            <a:endParaRPr/>
          </a:p>
        </p:txBody>
      </p:sp>
      <p:sp>
        <p:nvSpPr>
          <p:cNvPr id="124" name="Google Shape;124;p5"/>
          <p:cNvSpPr txBox="1"/>
          <p:nvPr>
            <p:ph idx="1" type="body"/>
          </p:nvPr>
        </p:nvSpPr>
        <p:spPr>
          <a:xfrm>
            <a:off x="0" y="731837"/>
            <a:ext cx="9056687" cy="57404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F5F5F5"/>
              </a:buClr>
              <a:buSzPts val="2800"/>
              <a:buFont typeface="Noto Sans Symbols"/>
              <a:buChar char="⮚"/>
            </a:pPr>
            <a:r>
              <a:rPr i="0" lang="en-US" sz="2800" u="none">
                <a:solidFill>
                  <a:schemeClr val="dk1"/>
                </a:solidFill>
              </a:rPr>
              <a:t>A process is basically a program in execution. </a:t>
            </a:r>
            <a:endParaRPr/>
          </a:p>
          <a:p>
            <a:pPr indent="-177800" lvl="0" marL="171450" marR="0" rtl="0" algn="l">
              <a:lnSpc>
                <a:spcPct val="90000"/>
              </a:lnSpc>
              <a:spcBef>
                <a:spcPts val="700"/>
              </a:spcBef>
              <a:spcAft>
                <a:spcPts val="0"/>
              </a:spcAft>
              <a:buClr>
                <a:srgbClr val="F5F5F5"/>
              </a:buClr>
              <a:buSzPts val="2800"/>
              <a:buFont typeface="Noto Sans Symbols"/>
              <a:buChar char="⮚"/>
            </a:pPr>
            <a:r>
              <a:rPr i="0" lang="en-US" sz="2800" u="none">
                <a:solidFill>
                  <a:schemeClr val="dk1"/>
                </a:solidFill>
              </a:rPr>
              <a:t>The execution of a process must progress in a sequential fashion.</a:t>
            </a:r>
            <a:endParaRPr/>
          </a:p>
          <a:p>
            <a:pPr indent="-177800" lvl="0" marL="171450" marR="0" rtl="0" algn="l">
              <a:lnSpc>
                <a:spcPct val="90000"/>
              </a:lnSpc>
              <a:spcBef>
                <a:spcPts val="700"/>
              </a:spcBef>
              <a:spcAft>
                <a:spcPts val="0"/>
              </a:spcAft>
              <a:buClr>
                <a:srgbClr val="F5F5F5"/>
              </a:buClr>
              <a:buSzPts val="2800"/>
              <a:buFont typeface="Noto Sans Symbols"/>
              <a:buChar char="⮚"/>
            </a:pPr>
            <a:r>
              <a:rPr i="0" lang="en-US" sz="2800" u="none">
                <a:solidFill>
                  <a:schemeClr val="dk1"/>
                </a:solidFill>
              </a:rPr>
              <a:t>  A process is defined as an entity which represents the basic unit of work to be implemented in the system</a:t>
            </a:r>
            <a:endParaRPr/>
          </a:p>
          <a:p>
            <a:pPr indent="-177800" lvl="0" marL="171450" marR="0" rtl="0" algn="l">
              <a:lnSpc>
                <a:spcPct val="90000"/>
              </a:lnSpc>
              <a:spcBef>
                <a:spcPts val="700"/>
              </a:spcBef>
              <a:spcAft>
                <a:spcPts val="0"/>
              </a:spcAft>
              <a:buClr>
                <a:srgbClr val="F5F5F5"/>
              </a:buClr>
              <a:buSzPts val="2800"/>
              <a:buFont typeface="Noto Sans Symbols"/>
              <a:buChar char="⮚"/>
            </a:pPr>
            <a:r>
              <a:rPr i="0" lang="en-US" sz="2800" u="none">
                <a:solidFill>
                  <a:schemeClr val="dk1"/>
                </a:solidFill>
              </a:rPr>
              <a:t>Program is </a:t>
            </a:r>
            <a:r>
              <a:rPr i="1" lang="en-US" sz="2800" u="none">
                <a:solidFill>
                  <a:schemeClr val="dk1"/>
                </a:solidFill>
              </a:rPr>
              <a:t>passive</a:t>
            </a:r>
            <a:r>
              <a:rPr i="0" lang="en-US" sz="2800" u="none">
                <a:solidFill>
                  <a:schemeClr val="dk1"/>
                </a:solidFill>
              </a:rPr>
              <a:t> entity stored on disk (executable file), process is </a:t>
            </a:r>
            <a:r>
              <a:rPr i="1" lang="en-US" sz="2800" u="none">
                <a:solidFill>
                  <a:schemeClr val="dk1"/>
                </a:solidFill>
              </a:rPr>
              <a:t>active </a:t>
            </a:r>
            <a:endParaRPr/>
          </a:p>
          <a:p>
            <a:pPr indent="-342900" lvl="1" marL="800100" marR="0" rtl="0" algn="l">
              <a:lnSpc>
                <a:spcPct val="90000"/>
              </a:lnSpc>
              <a:spcBef>
                <a:spcPts val="300"/>
              </a:spcBef>
              <a:spcAft>
                <a:spcPts val="0"/>
              </a:spcAft>
              <a:buClr>
                <a:srgbClr val="F5F5F5"/>
              </a:buClr>
              <a:buSzPts val="2400"/>
              <a:buFont typeface="Noto Sans Symbols"/>
              <a:buChar char="⮚"/>
            </a:pPr>
            <a:r>
              <a:rPr i="0" lang="en-US" sz="2400" u="none" cap="none" strike="noStrike">
                <a:solidFill>
                  <a:schemeClr val="dk1"/>
                </a:solidFill>
              </a:rPr>
              <a:t>Program becomes process when executable file loaded into memory</a:t>
            </a:r>
            <a:endParaRPr/>
          </a:p>
          <a:p>
            <a:pPr indent="-177800" lvl="0" marL="171450" marR="0" rtl="0" algn="l">
              <a:lnSpc>
                <a:spcPct val="90000"/>
              </a:lnSpc>
              <a:spcBef>
                <a:spcPts val="700"/>
              </a:spcBef>
              <a:spcAft>
                <a:spcPts val="0"/>
              </a:spcAft>
              <a:buClr>
                <a:srgbClr val="F5F5F5"/>
              </a:buClr>
              <a:buSzPts val="2800"/>
              <a:buFont typeface="Noto Sans Symbols"/>
              <a:buChar char="⮚"/>
            </a:pPr>
            <a:r>
              <a:rPr i="0" lang="en-US" sz="2800" u="none">
                <a:solidFill>
                  <a:schemeClr val="dk1"/>
                </a:solidFill>
              </a:rPr>
              <a:t>Execution of program started via GUI mouse clicks, command line entry of its name, etc</a:t>
            </a:r>
            <a:endParaRPr/>
          </a:p>
          <a:p>
            <a:pPr indent="-177800" lvl="0" marL="171450" marR="0" rtl="0" algn="l">
              <a:lnSpc>
                <a:spcPct val="90000"/>
              </a:lnSpc>
              <a:spcBef>
                <a:spcPts val="700"/>
              </a:spcBef>
              <a:spcAft>
                <a:spcPts val="0"/>
              </a:spcAft>
              <a:buClr>
                <a:srgbClr val="F5F5F5"/>
              </a:buClr>
              <a:buSzPts val="2800"/>
              <a:buFont typeface="Noto Sans Symbols"/>
              <a:buChar char="⮚"/>
            </a:pPr>
            <a:r>
              <a:rPr i="0" lang="en-US" sz="2800" u="none">
                <a:solidFill>
                  <a:schemeClr val="dk1"/>
                </a:solidFill>
              </a:rPr>
              <a:t>One program can be several processes</a:t>
            </a:r>
            <a:endParaRPr/>
          </a:p>
          <a:p>
            <a:pPr indent="-342900" lvl="1" marL="800100" marR="0" rtl="0" algn="l">
              <a:lnSpc>
                <a:spcPct val="90000"/>
              </a:lnSpc>
              <a:spcBef>
                <a:spcPts val="300"/>
              </a:spcBef>
              <a:spcAft>
                <a:spcPts val="0"/>
              </a:spcAft>
              <a:buClr>
                <a:srgbClr val="F5F5F5"/>
              </a:buClr>
              <a:buSzPts val="2400"/>
              <a:buFont typeface="Noto Sans Symbols"/>
              <a:buChar char="⮚"/>
            </a:pPr>
            <a:r>
              <a:rPr i="0" lang="en-US" sz="2400" u="none" cap="none" strike="noStrike">
                <a:solidFill>
                  <a:schemeClr val="dk1"/>
                </a:solidFill>
              </a:rPr>
              <a:t>Consider multiple users executing the same program</a:t>
            </a:r>
            <a:endParaRPr/>
          </a:p>
          <a:p>
            <a:pPr indent="0" lvl="0" marL="171450" marR="0" rtl="0" algn="l">
              <a:lnSpc>
                <a:spcPct val="90000"/>
              </a:lnSpc>
              <a:spcBef>
                <a:spcPts val="700"/>
              </a:spcBef>
              <a:spcAft>
                <a:spcPts val="0"/>
              </a:spcAft>
              <a:buClr>
                <a:srgbClr val="F5F5F5"/>
              </a:buClr>
              <a:buSzPts val="2800"/>
              <a:buFont typeface="Noto Sans Symbols"/>
              <a:buNone/>
            </a:pPr>
            <a:r>
              <a:t/>
            </a:r>
            <a:endParaRPr i="0" sz="2800" u="none">
              <a:solidFill>
                <a:schemeClr val="dk1"/>
              </a:solidFill>
            </a:endParaRPr>
          </a:p>
          <a:p>
            <a:pPr indent="0" lvl="0" marL="171450" marR="0" rtl="0" algn="l">
              <a:lnSpc>
                <a:spcPct val="90000"/>
              </a:lnSpc>
              <a:spcBef>
                <a:spcPts val="750"/>
              </a:spcBef>
              <a:spcAft>
                <a:spcPts val="0"/>
              </a:spcAft>
              <a:buClr>
                <a:schemeClr val="dk1"/>
              </a:buClr>
              <a:buSzPts val="2800"/>
              <a:buFont typeface="Arial"/>
              <a:buNone/>
            </a:pPr>
            <a:r>
              <a:t/>
            </a:r>
            <a:endParaRPr i="0" sz="2800" u="none">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1576387" y="155575"/>
            <a:ext cx="6107112" cy="5762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Process Concept (Cont.)</a:t>
            </a:r>
            <a:endParaRPr/>
          </a:p>
        </p:txBody>
      </p:sp>
      <p:sp>
        <p:nvSpPr>
          <p:cNvPr id="130" name="Google Shape;130;p6"/>
          <p:cNvSpPr txBox="1"/>
          <p:nvPr>
            <p:ph idx="1" type="body"/>
          </p:nvPr>
        </p:nvSpPr>
        <p:spPr>
          <a:xfrm>
            <a:off x="73025" y="933450"/>
            <a:ext cx="9007475" cy="5815012"/>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F5F5F5"/>
              </a:buClr>
              <a:buSzPts val="2800"/>
              <a:buFont typeface="Arial"/>
              <a:buChar char="•"/>
            </a:pPr>
            <a:r>
              <a:rPr b="1" i="0" lang="en-US" sz="2800" u="none">
                <a:solidFill>
                  <a:schemeClr val="dk1"/>
                </a:solidFill>
                <a:latin typeface="Calibri"/>
                <a:ea typeface="Calibri"/>
                <a:cs typeface="Calibri"/>
                <a:sym typeface="Calibri"/>
              </a:rPr>
              <a:t>A </a:t>
            </a:r>
            <a:r>
              <a:rPr b="0" i="0" lang="en-US" sz="2800" u="none">
                <a:solidFill>
                  <a:schemeClr val="dk1"/>
                </a:solidFill>
                <a:latin typeface="Calibri"/>
                <a:ea typeface="Calibri"/>
                <a:cs typeface="Calibri"/>
                <a:sym typeface="Calibri"/>
              </a:rPr>
              <a:t>process is basically a program in execution. </a:t>
            </a:r>
            <a:endParaRPr/>
          </a:p>
          <a:p>
            <a:pPr indent="-177800" lvl="0" marL="171450" marR="0" rtl="0" algn="l">
              <a:lnSpc>
                <a:spcPct val="90000"/>
              </a:lnSpc>
              <a:spcBef>
                <a:spcPts val="700"/>
              </a:spcBef>
              <a:spcAft>
                <a:spcPts val="0"/>
              </a:spcAft>
              <a:buClr>
                <a:srgbClr val="F5F5F5"/>
              </a:buClr>
              <a:buSzPts val="2800"/>
              <a:buFont typeface="Arial"/>
              <a:buChar char="•"/>
            </a:pPr>
            <a:r>
              <a:rPr b="0" i="0" lang="en-US" sz="2800" u="none">
                <a:solidFill>
                  <a:schemeClr val="dk1"/>
                </a:solidFill>
                <a:latin typeface="Calibri"/>
                <a:ea typeface="Calibri"/>
                <a:cs typeface="Calibri"/>
                <a:sym typeface="Calibri"/>
              </a:rPr>
              <a:t>The execution of a process must progress in a sequential fashion.</a:t>
            </a:r>
            <a:endParaRPr/>
          </a:p>
          <a:p>
            <a:pPr indent="-177800" lvl="0" marL="171450" marR="0" rtl="0" algn="l">
              <a:lnSpc>
                <a:spcPct val="90000"/>
              </a:lnSpc>
              <a:spcBef>
                <a:spcPts val="700"/>
              </a:spcBef>
              <a:spcAft>
                <a:spcPts val="0"/>
              </a:spcAft>
              <a:buClr>
                <a:srgbClr val="F5F5F5"/>
              </a:buClr>
              <a:buSzPts val="2800"/>
              <a:buFont typeface="Arial"/>
              <a:buChar char="•"/>
            </a:pPr>
            <a:r>
              <a:rPr b="0" i="0" lang="en-US" sz="2800" u="none">
                <a:solidFill>
                  <a:schemeClr val="dk1"/>
                </a:solidFill>
                <a:latin typeface="Calibri"/>
                <a:ea typeface="Calibri"/>
                <a:cs typeface="Calibri"/>
                <a:sym typeface="Calibri"/>
              </a:rPr>
              <a:t>  A process is defined as an entity which represents the basic unit of work to be implemented in the system</a:t>
            </a:r>
            <a:endParaRPr/>
          </a:p>
          <a:p>
            <a:pPr indent="-177800" lvl="0" marL="171450" marR="0" rtl="0" algn="l">
              <a:lnSpc>
                <a:spcPct val="90000"/>
              </a:lnSpc>
              <a:spcBef>
                <a:spcPts val="700"/>
              </a:spcBef>
              <a:spcAft>
                <a:spcPts val="0"/>
              </a:spcAft>
              <a:buClr>
                <a:srgbClr val="F5F5F5"/>
              </a:buClr>
              <a:buSzPts val="2800"/>
              <a:buFont typeface="Arial"/>
              <a:buChar char="•"/>
            </a:pPr>
            <a:r>
              <a:rPr b="0" i="0" lang="en-US" sz="2800" u="none">
                <a:solidFill>
                  <a:schemeClr val="dk1"/>
                </a:solidFill>
                <a:latin typeface="Calibri"/>
                <a:ea typeface="Calibri"/>
                <a:cs typeface="Calibri"/>
                <a:sym typeface="Calibri"/>
              </a:rPr>
              <a:t>Program is </a:t>
            </a:r>
            <a:r>
              <a:rPr b="0" i="1" lang="en-US" sz="2800" u="none">
                <a:solidFill>
                  <a:schemeClr val="dk1"/>
                </a:solidFill>
                <a:latin typeface="Calibri"/>
                <a:ea typeface="Calibri"/>
                <a:cs typeface="Calibri"/>
                <a:sym typeface="Calibri"/>
              </a:rPr>
              <a:t>passive</a:t>
            </a:r>
            <a:r>
              <a:rPr b="0" i="0" lang="en-US" sz="2800" u="none">
                <a:solidFill>
                  <a:schemeClr val="dk1"/>
                </a:solidFill>
                <a:latin typeface="Calibri"/>
                <a:ea typeface="Calibri"/>
                <a:cs typeface="Calibri"/>
                <a:sym typeface="Calibri"/>
              </a:rPr>
              <a:t> entity stored on disk (executable file), process is </a:t>
            </a:r>
            <a:r>
              <a:rPr b="0" i="1" lang="en-US" sz="2800" u="none">
                <a:solidFill>
                  <a:schemeClr val="dk1"/>
                </a:solidFill>
                <a:latin typeface="Calibri"/>
                <a:ea typeface="Calibri"/>
                <a:cs typeface="Calibri"/>
                <a:sym typeface="Calibri"/>
              </a:rPr>
              <a:t>active.  </a:t>
            </a:r>
            <a:endParaRPr/>
          </a:p>
          <a:p>
            <a:pPr indent="-342900" lvl="1" marL="800100" marR="0" rtl="0" algn="l">
              <a:lnSpc>
                <a:spcPct val="90000"/>
              </a:lnSpc>
              <a:spcBef>
                <a:spcPts val="300"/>
              </a:spcBef>
              <a:spcAft>
                <a:spcPts val="0"/>
              </a:spcAft>
              <a:buClr>
                <a:srgbClr val="F5F5F5"/>
              </a:buClr>
              <a:buSzPts val="2400"/>
              <a:buFont typeface="Arial"/>
              <a:buChar char="•"/>
            </a:pPr>
            <a:r>
              <a:rPr b="0" i="0" lang="en-US" sz="2400" u="none" cap="none" strike="noStrike">
                <a:solidFill>
                  <a:schemeClr val="dk1"/>
                </a:solidFill>
                <a:latin typeface="Calibri"/>
                <a:ea typeface="Calibri"/>
                <a:cs typeface="Calibri"/>
                <a:sym typeface="Calibri"/>
              </a:rPr>
              <a:t>Program becomes process when executable file loaded into memory</a:t>
            </a:r>
            <a:endParaRPr/>
          </a:p>
          <a:p>
            <a:pPr indent="-177800" lvl="0" marL="171450" marR="0" rtl="0" algn="l">
              <a:lnSpc>
                <a:spcPct val="90000"/>
              </a:lnSpc>
              <a:spcBef>
                <a:spcPts val="700"/>
              </a:spcBef>
              <a:spcAft>
                <a:spcPts val="0"/>
              </a:spcAft>
              <a:buClr>
                <a:srgbClr val="F5F5F5"/>
              </a:buClr>
              <a:buSzPts val="2800"/>
              <a:buFont typeface="Arial"/>
              <a:buChar char="•"/>
            </a:pPr>
            <a:r>
              <a:rPr b="0" i="0" lang="en-US" sz="2800" u="none">
                <a:solidFill>
                  <a:schemeClr val="dk1"/>
                </a:solidFill>
                <a:latin typeface="Calibri"/>
                <a:ea typeface="Calibri"/>
                <a:cs typeface="Calibri"/>
                <a:sym typeface="Calibri"/>
              </a:rPr>
              <a:t>Execution of program started via GUI mouse clicks, command line entry of its name, etc</a:t>
            </a:r>
            <a:endParaRPr/>
          </a:p>
          <a:p>
            <a:pPr indent="-177800" lvl="0" marL="171450" marR="0" rtl="0" algn="l">
              <a:lnSpc>
                <a:spcPct val="90000"/>
              </a:lnSpc>
              <a:spcBef>
                <a:spcPts val="700"/>
              </a:spcBef>
              <a:spcAft>
                <a:spcPts val="0"/>
              </a:spcAft>
              <a:buClr>
                <a:srgbClr val="F5F5F5"/>
              </a:buClr>
              <a:buSzPts val="2800"/>
              <a:buFont typeface="Arial"/>
              <a:buChar char="•"/>
            </a:pPr>
            <a:r>
              <a:rPr b="0" i="0" lang="en-US" sz="2800" u="none">
                <a:solidFill>
                  <a:schemeClr val="dk1"/>
                </a:solidFill>
                <a:latin typeface="Calibri"/>
                <a:ea typeface="Calibri"/>
                <a:cs typeface="Calibri"/>
                <a:sym typeface="Calibri"/>
              </a:rPr>
              <a:t>One program can be several processes</a:t>
            </a:r>
            <a:endParaRPr/>
          </a:p>
          <a:p>
            <a:pPr indent="-342900" lvl="1" marL="800100" marR="0" rtl="0" algn="l">
              <a:lnSpc>
                <a:spcPct val="90000"/>
              </a:lnSpc>
              <a:spcBef>
                <a:spcPts val="300"/>
              </a:spcBef>
              <a:spcAft>
                <a:spcPts val="0"/>
              </a:spcAft>
              <a:buClr>
                <a:srgbClr val="F5F5F5"/>
              </a:buClr>
              <a:buSzPts val="2400"/>
              <a:buFont typeface="Arial"/>
              <a:buChar char="•"/>
            </a:pPr>
            <a:r>
              <a:rPr b="0" i="0" lang="en-US" sz="2400" u="none" cap="none" strike="noStrike">
                <a:solidFill>
                  <a:schemeClr val="dk1"/>
                </a:solidFill>
                <a:latin typeface="Calibri"/>
                <a:ea typeface="Calibri"/>
                <a:cs typeface="Calibri"/>
                <a:sym typeface="Calibri"/>
              </a:rPr>
              <a:t>Consider multiple users executing the same program</a:t>
            </a:r>
            <a:endParaRPr/>
          </a:p>
          <a:p>
            <a:pPr indent="0" lvl="0" marL="171450" marR="0" rtl="0" algn="l">
              <a:lnSpc>
                <a:spcPct val="90000"/>
              </a:lnSpc>
              <a:spcBef>
                <a:spcPts val="700"/>
              </a:spcBef>
              <a:spcAft>
                <a:spcPts val="0"/>
              </a:spcAft>
              <a:buClr>
                <a:srgbClr val="F5F5F5"/>
              </a:buClr>
              <a:buSzPts val="2800"/>
              <a:buFont typeface="Noto Sans Symbols"/>
              <a:buNone/>
            </a:pPr>
            <a:r>
              <a:t/>
            </a:r>
            <a:endParaRPr b="1" i="0" sz="2800" u="none">
              <a:solidFill>
                <a:schemeClr val="dk1"/>
              </a:solidFill>
              <a:latin typeface="Calibri"/>
              <a:ea typeface="Calibri"/>
              <a:cs typeface="Calibri"/>
              <a:sym typeface="Calibri"/>
            </a:endParaRPr>
          </a:p>
          <a:p>
            <a:pPr indent="0" lvl="0" marL="171450" marR="0" rtl="0" algn="l">
              <a:lnSpc>
                <a:spcPct val="90000"/>
              </a:lnSpc>
              <a:spcBef>
                <a:spcPts val="75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title"/>
          </p:nvPr>
        </p:nvSpPr>
        <p:spPr>
          <a:xfrm>
            <a:off x="457200" y="166687"/>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in Memory</a:t>
            </a:r>
            <a:endParaRPr/>
          </a:p>
        </p:txBody>
      </p:sp>
      <p:pic>
        <p:nvPicPr>
          <p:cNvPr id="136" name="Google Shape;136;p7"/>
          <p:cNvPicPr preferRelativeResize="0"/>
          <p:nvPr/>
        </p:nvPicPr>
        <p:blipFill rotWithShape="1">
          <a:blip r:embed="rId3">
            <a:alphaModFix/>
          </a:blip>
          <a:srcRect b="0" l="0" r="0" t="0"/>
          <a:stretch/>
        </p:blipFill>
        <p:spPr>
          <a:xfrm>
            <a:off x="0" y="1255712"/>
            <a:ext cx="3124200" cy="5097462"/>
          </a:xfrm>
          <a:prstGeom prst="rect">
            <a:avLst/>
          </a:prstGeom>
          <a:noFill/>
          <a:ln>
            <a:noFill/>
          </a:ln>
        </p:spPr>
      </p:pic>
      <p:graphicFrame>
        <p:nvGraphicFramePr>
          <p:cNvPr id="137" name="Google Shape;137;p7"/>
          <p:cNvGraphicFramePr/>
          <p:nvPr/>
        </p:nvGraphicFramePr>
        <p:xfrm>
          <a:off x="3124200" y="742950"/>
          <a:ext cx="3000000" cy="3000000"/>
        </p:xfrm>
        <a:graphic>
          <a:graphicData uri="http://schemas.openxmlformats.org/drawingml/2006/table">
            <a:tbl>
              <a:tblPr>
                <a:noFill/>
                <a:tableStyleId>{C908ADB7-3FB5-4BC4-961A-DE2B5892779A}</a:tableStyleId>
              </a:tblPr>
              <a:tblGrid>
                <a:gridCol w="5943600"/>
              </a:tblGrid>
              <a:tr h="508000">
                <a:tc>
                  <a:txBody>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Component &amp; Description</a:t>
                      </a:r>
                      <a:endParaRPr/>
                    </a:p>
                  </a:txBody>
                  <a:tcPr marT="40450" marB="40450" marR="80900" marL="809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43050">
                <a:tc>
                  <a:txBody>
                    <a:bodyPr/>
                    <a:lstStyle/>
                    <a:p>
                      <a:pPr indent="0" lvl="0" marL="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Stack</a:t>
                      </a:r>
                      <a:r>
                        <a:rPr b="0" i="0" lang="en-US" sz="2400" u="none" cap="none" strike="noStrike">
                          <a:solidFill>
                            <a:schemeClr val="dk1"/>
                          </a:solidFill>
                          <a:latin typeface="Calibri"/>
                          <a:ea typeface="Calibri"/>
                          <a:cs typeface="Calibri"/>
                          <a:sym typeface="Calibri"/>
                        </a:rPr>
                        <a:t>-The process Stack contains the temporary data such as method/function parameters, return address and local variables.</a:t>
                      </a:r>
                      <a:endParaRPr/>
                    </a:p>
                  </a:txBody>
                  <a:tcPr marT="40450" marB="40450" marR="80900" marL="809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00125">
                <a:tc>
                  <a:txBody>
                    <a:bodyPr/>
                    <a:lstStyle/>
                    <a:p>
                      <a:pPr indent="0" lvl="0" marL="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Heap</a:t>
                      </a:r>
                      <a:r>
                        <a:rPr b="0" i="0" lang="en-US" sz="2400" u="none" cap="none" strike="noStrike">
                          <a:solidFill>
                            <a:schemeClr val="dk1"/>
                          </a:solidFill>
                          <a:latin typeface="Calibri"/>
                          <a:ea typeface="Calibri"/>
                          <a:cs typeface="Calibri"/>
                          <a:sym typeface="Calibri"/>
                        </a:rPr>
                        <a:t>-This is dynamically allocated memory to a process during its run time.</a:t>
                      </a:r>
                      <a:endParaRPr/>
                    </a:p>
                  </a:txBody>
                  <a:tcPr marT="40450" marB="40450" marR="80900" marL="809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66850">
                <a:tc>
                  <a:txBody>
                    <a:bodyPr/>
                    <a:lstStyle/>
                    <a:p>
                      <a:pPr indent="0" lvl="0" marL="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Text</a:t>
                      </a:r>
                      <a:r>
                        <a:rPr b="0" i="0" lang="en-US" sz="2400" u="none" cap="none" strike="noStrike">
                          <a:solidFill>
                            <a:schemeClr val="dk1"/>
                          </a:solidFill>
                          <a:latin typeface="Calibri"/>
                          <a:ea typeface="Calibri"/>
                          <a:cs typeface="Calibri"/>
                          <a:sym typeface="Calibri"/>
                        </a:rPr>
                        <a:t>-This includes the current activity represented by the value of Program Counter and the contents of the processor's registers.</a:t>
                      </a:r>
                      <a:endParaRPr/>
                    </a:p>
                  </a:txBody>
                  <a:tcPr marT="40450" marB="40450" marR="80900" marL="809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00125">
                <a:tc>
                  <a:txBody>
                    <a:bodyPr/>
                    <a:lstStyle/>
                    <a:p>
                      <a:pPr indent="0" lvl="0" marL="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Data</a:t>
                      </a:r>
                      <a:r>
                        <a:rPr b="0" i="0" lang="en-US" sz="2400" u="none" cap="none" strike="noStrike">
                          <a:solidFill>
                            <a:schemeClr val="dk1"/>
                          </a:solidFill>
                          <a:latin typeface="Calibri"/>
                          <a:ea typeface="Calibri"/>
                          <a:cs typeface="Calibri"/>
                          <a:sym typeface="Calibri"/>
                        </a:rPr>
                        <a:t>-This section contains the global and static variables.</a:t>
                      </a:r>
                      <a:endParaRPr/>
                    </a:p>
                  </a:txBody>
                  <a:tcPr marT="40450" marB="40450" marR="80900" marL="809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457200" y="0"/>
            <a:ext cx="8229600" cy="5381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Program</a:t>
            </a:r>
            <a:endParaRPr/>
          </a:p>
        </p:txBody>
      </p:sp>
      <p:sp>
        <p:nvSpPr>
          <p:cNvPr id="143" name="Google Shape;143;p8"/>
          <p:cNvSpPr txBox="1"/>
          <p:nvPr/>
        </p:nvSpPr>
        <p:spPr>
          <a:xfrm>
            <a:off x="107950" y="720725"/>
            <a:ext cx="8928100" cy="5632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dk1"/>
              </a:solidFill>
              <a:latin typeface="Verdana"/>
              <a:ea typeface="Verdana"/>
              <a:cs typeface="Verdana"/>
              <a:sym typeface="Verdana"/>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Verdana"/>
                <a:ea typeface="Verdana"/>
                <a:cs typeface="Verdana"/>
                <a:sym typeface="Verdana"/>
              </a:rPr>
              <a:t>A program is a piece of code which may be a single line or millions of lines.</a:t>
            </a:r>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Verdana"/>
                <a:ea typeface="Verdana"/>
                <a:cs typeface="Verdana"/>
                <a:sym typeface="Verdana"/>
              </a:rPr>
              <a:t> A computer program is usually written by a computer programmer in a programming language.</a:t>
            </a:r>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Verdana"/>
                <a:ea typeface="Verdana"/>
                <a:cs typeface="Verdana"/>
                <a:sym typeface="Verdana"/>
              </a:rPr>
              <a:t> For example, here is a simple program written in C programming language −</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#include &lt;stdio.h&gt;</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int main() {</a:t>
            </a:r>
            <a:endParaRPr/>
          </a:p>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   printf("Hello, World! \n");</a:t>
            </a:r>
            <a:endParaRPr/>
          </a:p>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   return 0;</a:t>
            </a:r>
            <a:endParaRPr/>
          </a:p>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dk1"/>
              </a:solidFill>
              <a:latin typeface="Verdana"/>
              <a:ea typeface="Verdana"/>
              <a:cs typeface="Verdana"/>
              <a:sym typeface="Verdana"/>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Verdana"/>
                <a:ea typeface="Verdana"/>
                <a:cs typeface="Verdana"/>
                <a:sym typeface="Verdana"/>
              </a:rPr>
              <a:t>A computer program is a collection of instructions that performs a specific task when executed by a computer.</a:t>
            </a:r>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Verdana"/>
                <a:ea typeface="Verdana"/>
                <a:cs typeface="Verdana"/>
                <a:sym typeface="Verdana"/>
              </a:rPr>
              <a:t> When we compare a program with a process, we can conclude that a process is a dynamic instance of a computer program.</a:t>
            </a:r>
            <a:endParaRPr/>
          </a:p>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1060450" y="0"/>
            <a:ext cx="7056437" cy="4492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Process States</a:t>
            </a:r>
            <a:endParaRPr/>
          </a:p>
        </p:txBody>
      </p:sp>
      <p:graphicFrame>
        <p:nvGraphicFramePr>
          <p:cNvPr id="149" name="Google Shape;149;p9"/>
          <p:cNvGraphicFramePr/>
          <p:nvPr/>
        </p:nvGraphicFramePr>
        <p:xfrm>
          <a:off x="114300" y="666750"/>
          <a:ext cx="3000000" cy="3000000"/>
        </p:xfrm>
        <a:graphic>
          <a:graphicData uri="http://schemas.openxmlformats.org/drawingml/2006/table">
            <a:tbl>
              <a:tblPr>
                <a:noFill/>
                <a:tableStyleId>{C908ADB7-3FB5-4BC4-961A-DE2B5892779A}</a:tableStyleId>
              </a:tblPr>
              <a:tblGrid>
                <a:gridCol w="336550"/>
                <a:gridCol w="8612175"/>
              </a:tblGrid>
              <a:tr h="663575">
                <a:tc>
                  <a:txBody>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1</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Start</a:t>
                      </a:r>
                      <a:r>
                        <a:rPr b="0" i="0" lang="en-US" sz="2000" u="none" cap="none" strike="noStrike">
                          <a:solidFill>
                            <a:schemeClr val="dk1"/>
                          </a:solidFill>
                          <a:latin typeface="Calibri"/>
                          <a:ea typeface="Calibri"/>
                          <a:cs typeface="Calibri"/>
                          <a:sym typeface="Calibri"/>
                        </a:rPr>
                        <a:t>:-This is the initial state when a process is first started/created.</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719250">
                <a:tc>
                  <a:txBody>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2</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Ready</a:t>
                      </a:r>
                      <a:r>
                        <a:rPr b="0" i="0" lang="en-US" sz="2000" u="none" cap="none" strike="noStrike">
                          <a:solidFill>
                            <a:schemeClr val="dk1"/>
                          </a:solidFill>
                          <a:latin typeface="Calibri"/>
                          <a:ea typeface="Calibri"/>
                          <a:cs typeface="Calibri"/>
                          <a:sym typeface="Calibri"/>
                        </a:rPr>
                        <a:t>:-The process is waiting to be assigned to a processor. </a:t>
                      </a:r>
                      <a:endParaRPr/>
                    </a:p>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Ready processes are waiting to have the processor allocated to them by the operating system so that they can run. Process may come into this state after </a:t>
                      </a:r>
                      <a:r>
                        <a:rPr b="1" i="0" lang="en-US" sz="2000" u="none" cap="none" strike="noStrike">
                          <a:solidFill>
                            <a:schemeClr val="dk1"/>
                          </a:solidFill>
                          <a:latin typeface="Calibri"/>
                          <a:ea typeface="Calibri"/>
                          <a:cs typeface="Calibri"/>
                          <a:sym typeface="Calibri"/>
                        </a:rPr>
                        <a:t>Start</a:t>
                      </a:r>
                      <a:r>
                        <a:rPr b="0" i="0" lang="en-US" sz="2000" u="none" cap="none" strike="noStrike">
                          <a:solidFill>
                            <a:schemeClr val="dk1"/>
                          </a:solidFill>
                          <a:latin typeface="Calibri"/>
                          <a:ea typeface="Calibri"/>
                          <a:cs typeface="Calibri"/>
                          <a:sym typeface="Calibri"/>
                        </a:rPr>
                        <a:t> state or while running it by but interrupted by the scheduler to assign CPU to some other process.</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30250">
                <a:tc>
                  <a:txBody>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3</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Running</a:t>
                      </a:r>
                      <a:r>
                        <a:rPr b="0" i="0" lang="en-US" sz="2000" u="none" cap="none" strike="noStrike">
                          <a:solidFill>
                            <a:schemeClr val="dk1"/>
                          </a:solidFill>
                          <a:latin typeface="Calibri"/>
                          <a:ea typeface="Calibri"/>
                          <a:cs typeface="Calibri"/>
                          <a:sym typeface="Calibri"/>
                        </a:rPr>
                        <a:t>:-Once the process has been assigned to a processor by the OS scheduler, the process state is set to running and the processor executes its instructions.</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06475">
                <a:tc>
                  <a:txBody>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4</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Waiting</a:t>
                      </a:r>
                      <a:r>
                        <a:rPr b="0" i="0" lang="en-US" sz="2000" u="none" cap="none" strike="noStrike">
                          <a:solidFill>
                            <a:schemeClr val="dk1"/>
                          </a:solidFill>
                          <a:latin typeface="Calibri"/>
                          <a:ea typeface="Calibri"/>
                          <a:cs typeface="Calibri"/>
                          <a:sym typeface="Calibri"/>
                        </a:rPr>
                        <a:t>:-Process moves into the waiting state if it needs to wait for a resource, such as waiting for user input, or waiting for a file to become available.</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77975">
                <a:tc>
                  <a:txBody>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5</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Terminated or Exit</a:t>
                      </a:r>
                      <a:r>
                        <a:rPr b="0" i="0" lang="en-US" sz="2000" u="none" cap="none" strike="noStrike">
                          <a:solidFill>
                            <a:schemeClr val="dk1"/>
                          </a:solidFill>
                          <a:latin typeface="Calibri"/>
                          <a:ea typeface="Calibri"/>
                          <a:cs typeface="Calibri"/>
                          <a:sym typeface="Calibri"/>
                        </a:rPr>
                        <a:t>:-Once the process finishes its execution, or it is terminated by the operating system, it is moved to the terminated state where it waits to be removed from main memory.</a:t>
                      </a:r>
                      <a:endParaRPr/>
                    </a:p>
                  </a:txBody>
                  <a:tcPr marT="23850" marB="23850" marR="47700" marL="4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739775" y="182562"/>
            <a:ext cx="7947025"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Diagram of Process State</a:t>
            </a:r>
            <a:endParaRPr/>
          </a:p>
        </p:txBody>
      </p:sp>
      <p:pic>
        <p:nvPicPr>
          <p:cNvPr id="155" name="Google Shape;155;p10"/>
          <p:cNvPicPr preferRelativeResize="0"/>
          <p:nvPr/>
        </p:nvPicPr>
        <p:blipFill rotWithShape="1">
          <a:blip r:embed="rId3">
            <a:alphaModFix/>
          </a:blip>
          <a:srcRect b="0" l="0" r="0" t="0"/>
          <a:stretch/>
        </p:blipFill>
        <p:spPr>
          <a:xfrm>
            <a:off x="658812" y="1308100"/>
            <a:ext cx="8220075" cy="4886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628650" y="365125"/>
            <a:ext cx="7886700" cy="4508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900"/>
              <a:buFont typeface="Calibri"/>
              <a:buNone/>
            </a:pPr>
            <a:r>
              <a:rPr b="1" i="0" lang="en-US" sz="4900" u="none">
                <a:solidFill>
                  <a:schemeClr val="dk1"/>
                </a:solidFill>
                <a:latin typeface="Calibri"/>
                <a:ea typeface="Calibri"/>
                <a:cs typeface="Calibri"/>
                <a:sym typeface="Calibri"/>
              </a:rPr>
              <a:t>Interrupt</a:t>
            </a:r>
            <a:endParaRPr/>
          </a:p>
        </p:txBody>
      </p:sp>
      <p:sp>
        <p:nvSpPr>
          <p:cNvPr id="161" name="Google Shape;161;p11"/>
          <p:cNvSpPr txBox="1"/>
          <p:nvPr>
            <p:ph idx="1" type="body"/>
          </p:nvPr>
        </p:nvSpPr>
        <p:spPr>
          <a:xfrm>
            <a:off x="0" y="903287"/>
            <a:ext cx="9144000" cy="6064250"/>
          </a:xfrm>
          <a:prstGeom prst="rect">
            <a:avLst/>
          </a:prstGeom>
          <a:noFill/>
          <a:ln>
            <a:noFill/>
          </a:ln>
        </p:spPr>
        <p:txBody>
          <a:bodyPr anchorCtr="0" anchor="t" bIns="45700" lIns="91425" spcFirstLastPara="1" rIns="91425" wrap="square" tIns="45700">
            <a:noAutofit/>
          </a:bodyPr>
          <a:lstStyle/>
          <a:p>
            <a:pPr indent="-203200" lvl="0" marL="171450" marR="0" rtl="0" algn="just">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Interrupts are signals sent to the CPU by external devices, normally I/O devices.</a:t>
            </a:r>
            <a:endParaRPr/>
          </a:p>
          <a:p>
            <a:pPr indent="-203200" lvl="0" marL="171450" marR="0" rtl="0" algn="just">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They tell the CPU to stop its current activities and execute the appropriate part of the operating system.</a:t>
            </a:r>
            <a:endParaRPr/>
          </a:p>
          <a:p>
            <a:pPr indent="-203200" lvl="0" marL="171450" marR="0" rtl="0" algn="just">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Interrupts are important because they give the user better control over the computer. </a:t>
            </a:r>
            <a:endParaRPr/>
          </a:p>
          <a:p>
            <a:pPr indent="-203200" lvl="0" marL="171450" marR="0" rtl="0" algn="just">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Without interrupts, a user may have to wait for a given application to have a higher priority over the CPU to be ran.</a:t>
            </a:r>
            <a:endParaRPr/>
          </a:p>
          <a:p>
            <a:pPr indent="-203200" lvl="0" marL="171450" marR="0" rtl="0" algn="just">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This ensures that the CPU will deal with the process immediately.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617537" y="0"/>
            <a:ext cx="7886700" cy="13255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Types of interrupts</a:t>
            </a:r>
            <a:br>
              <a:rPr b="1" i="0" lang="en-US" sz="3300" u="none">
                <a:solidFill>
                  <a:schemeClr val="dk1"/>
                </a:solidFill>
                <a:latin typeface="Calibri"/>
                <a:ea typeface="Calibri"/>
                <a:cs typeface="Calibri"/>
                <a:sym typeface="Calibri"/>
              </a:rPr>
            </a:br>
            <a:endParaRPr/>
          </a:p>
        </p:txBody>
      </p:sp>
      <p:sp>
        <p:nvSpPr>
          <p:cNvPr id="167" name="Google Shape;167;p12"/>
          <p:cNvSpPr txBox="1"/>
          <p:nvPr>
            <p:ph idx="1" type="body"/>
          </p:nvPr>
        </p:nvSpPr>
        <p:spPr>
          <a:xfrm>
            <a:off x="87312" y="795337"/>
            <a:ext cx="8947150" cy="5932487"/>
          </a:xfrm>
          <a:prstGeom prst="rect">
            <a:avLst/>
          </a:prstGeom>
          <a:noFill/>
          <a:ln>
            <a:noFill/>
          </a:ln>
        </p:spPr>
        <p:txBody>
          <a:bodyPr anchorCtr="0" anchor="t" bIns="45700" lIns="91425" spcFirstLastPara="1" rIns="91425" wrap="square" tIns="45700">
            <a:noAutofit/>
          </a:bodyPr>
          <a:lstStyle/>
          <a:p>
            <a:pPr indent="-177800" lvl="0" marL="171450" marR="0" rtl="0" algn="just">
              <a:lnSpc>
                <a:spcPct val="90000"/>
              </a:lnSpc>
              <a:spcBef>
                <a:spcPts val="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There are three types of interrupts:</a:t>
            </a:r>
            <a:endParaRPr/>
          </a:p>
          <a:p>
            <a:pPr indent="0" lvl="0" marL="171450" marR="0" rtl="0" algn="just">
              <a:lnSpc>
                <a:spcPct val="90000"/>
              </a:lnSpc>
              <a:spcBef>
                <a:spcPts val="70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a:p>
            <a:pPr indent="-177800" lvl="0" marL="171450" marR="0" rtl="0" algn="just">
              <a:lnSpc>
                <a:spcPct val="90000"/>
              </a:lnSpc>
              <a:spcBef>
                <a:spcPts val="700"/>
              </a:spcBef>
              <a:spcAft>
                <a:spcPts val="0"/>
              </a:spcAft>
              <a:buClr>
                <a:schemeClr val="dk1"/>
              </a:buClr>
              <a:buSzPts val="2800"/>
              <a:buChar char="•"/>
            </a:pPr>
            <a:r>
              <a:rPr b="1" i="0" lang="en-US" sz="2800" u="none">
                <a:solidFill>
                  <a:schemeClr val="dk1"/>
                </a:solidFill>
              </a:rPr>
              <a:t> Hardware Interrupts</a:t>
            </a:r>
            <a:r>
              <a:rPr i="0" lang="en-US" sz="2800" u="none">
                <a:solidFill>
                  <a:schemeClr val="dk1"/>
                </a:solidFill>
              </a:rPr>
              <a:t> are generated by hardware devices to signal that they need some attention from the OS. </a:t>
            </a:r>
            <a:endParaRPr/>
          </a:p>
          <a:p>
            <a:pPr indent="-177800" lvl="0" marL="171450" marR="0" rtl="0" algn="just">
              <a:lnSpc>
                <a:spcPct val="90000"/>
              </a:lnSpc>
              <a:spcBef>
                <a:spcPts val="700"/>
              </a:spcBef>
              <a:spcAft>
                <a:spcPts val="0"/>
              </a:spcAft>
              <a:buClr>
                <a:schemeClr val="dk1"/>
              </a:buClr>
              <a:buSzPts val="2800"/>
              <a:buChar char="•"/>
            </a:pPr>
            <a:r>
              <a:rPr b="1" i="0" lang="en-US" sz="2800" u="none">
                <a:solidFill>
                  <a:schemeClr val="dk1"/>
                </a:solidFill>
              </a:rPr>
              <a:t>Software Interrupts</a:t>
            </a:r>
            <a:r>
              <a:rPr i="0" lang="en-US" sz="2800" u="none">
                <a:solidFill>
                  <a:schemeClr val="dk1"/>
                </a:solidFill>
              </a:rPr>
              <a:t> are generated by programs when they want to request a system call to be performed by the operating system.</a:t>
            </a:r>
            <a:endParaRPr/>
          </a:p>
          <a:p>
            <a:pPr indent="-177800" lvl="0" marL="171450" marR="0" rtl="0" algn="just">
              <a:lnSpc>
                <a:spcPct val="90000"/>
              </a:lnSpc>
              <a:spcBef>
                <a:spcPts val="700"/>
              </a:spcBef>
              <a:spcAft>
                <a:spcPts val="0"/>
              </a:spcAft>
              <a:buClr>
                <a:schemeClr val="dk1"/>
              </a:buClr>
              <a:buSzPts val="2800"/>
              <a:buChar char="•"/>
            </a:pPr>
            <a:r>
              <a:rPr b="1" i="0" lang="en-US" sz="2800" u="none">
                <a:solidFill>
                  <a:schemeClr val="dk1"/>
                </a:solidFill>
              </a:rPr>
              <a:t> Traps</a:t>
            </a:r>
            <a:r>
              <a:rPr i="0" lang="en-US" sz="2800" u="none">
                <a:solidFill>
                  <a:schemeClr val="dk1"/>
                </a:solidFill>
              </a:rPr>
              <a:t> are generated by the CPU itself to indicate that some error or condition occurred for which assistance from the operating system is needed.</a:t>
            </a:r>
            <a:endParaRPr/>
          </a:p>
          <a:p>
            <a:pPr indent="0" lvl="0" marL="171450" marR="0" rtl="0" algn="l">
              <a:lnSpc>
                <a:spcPct val="90000"/>
              </a:lnSpc>
              <a:spcBef>
                <a:spcPts val="75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1166812" y="136525"/>
            <a:ext cx="7519987"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Control Block (PCB)</a:t>
            </a:r>
            <a:endParaRPr/>
          </a:p>
        </p:txBody>
      </p:sp>
      <p:sp>
        <p:nvSpPr>
          <p:cNvPr id="173" name="Google Shape;173;p13"/>
          <p:cNvSpPr txBox="1"/>
          <p:nvPr>
            <p:ph idx="1" type="body"/>
          </p:nvPr>
        </p:nvSpPr>
        <p:spPr>
          <a:xfrm>
            <a:off x="0" y="712787"/>
            <a:ext cx="6348412" cy="586898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Information associated with each process </a:t>
            </a:r>
            <a:endParaRPr/>
          </a:p>
          <a:p>
            <a:pPr indent="-171450" lvl="0" marL="171450" marR="0" rtl="0" algn="l">
              <a:lnSpc>
                <a:spcPct val="90000"/>
              </a:lnSpc>
              <a:spcBef>
                <a:spcPts val="70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(also called </a:t>
            </a:r>
            <a:r>
              <a:rPr b="1" i="0" lang="en-US" sz="2400" u="none">
                <a:solidFill>
                  <a:srgbClr val="3366FF"/>
                </a:solidFill>
                <a:latin typeface="Calibri"/>
                <a:ea typeface="Calibri"/>
                <a:cs typeface="Calibri"/>
                <a:sym typeface="Calibri"/>
              </a:rPr>
              <a:t>task control block</a:t>
            </a:r>
            <a:r>
              <a:rPr b="0" i="0" lang="en-US" sz="2400" u="none">
                <a:solidFill>
                  <a:schemeClr val="dk1"/>
                </a:solidFill>
                <a:latin typeface="Calibri"/>
                <a:ea typeface="Calibri"/>
                <a:cs typeface="Calibri"/>
                <a:sym typeface="Calibri"/>
              </a:rPr>
              <a:t>)</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Process state – running, waiting, etc</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Program counter – location of instruction to next execute</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CPU registers – contents of all process-centric registers</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CPU scheduling information- priorities, scheduling queue pointers</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Memory-management information – memory allocated to the process</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Accounting information – CPU used, clock time elapsed since start, time limits</a:t>
            </a:r>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I/O status information – I/O devices allocated to process, list of open files</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pic>
        <p:nvPicPr>
          <p:cNvPr id="174" name="Google Shape;174;p13"/>
          <p:cNvPicPr preferRelativeResize="0"/>
          <p:nvPr/>
        </p:nvPicPr>
        <p:blipFill rotWithShape="1">
          <a:blip r:embed="rId3">
            <a:alphaModFix/>
          </a:blip>
          <a:srcRect b="0" l="0" r="0" t="0"/>
          <a:stretch/>
        </p:blipFill>
        <p:spPr>
          <a:xfrm>
            <a:off x="6348412" y="712787"/>
            <a:ext cx="2795587" cy="586898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982662" y="182562"/>
            <a:ext cx="8229600" cy="5762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CPU Switch From Process to Process</a:t>
            </a:r>
            <a:endParaRPr/>
          </a:p>
        </p:txBody>
      </p:sp>
      <p:pic>
        <p:nvPicPr>
          <p:cNvPr id="180" name="Google Shape;180;p14"/>
          <p:cNvPicPr preferRelativeResize="0"/>
          <p:nvPr/>
        </p:nvPicPr>
        <p:blipFill rotWithShape="1">
          <a:blip r:embed="rId3">
            <a:alphaModFix/>
          </a:blip>
          <a:srcRect b="0" l="7097" r="16031" t="0"/>
          <a:stretch/>
        </p:blipFill>
        <p:spPr>
          <a:xfrm>
            <a:off x="206375" y="669925"/>
            <a:ext cx="8785225" cy="61960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650875" y="174625"/>
            <a:ext cx="7886700" cy="6778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Context Switch </a:t>
            </a:r>
            <a:endParaRPr/>
          </a:p>
        </p:txBody>
      </p:sp>
      <p:sp>
        <p:nvSpPr>
          <p:cNvPr id="186" name="Google Shape;186;p15"/>
          <p:cNvSpPr txBox="1"/>
          <p:nvPr/>
        </p:nvSpPr>
        <p:spPr>
          <a:xfrm>
            <a:off x="109537" y="1279525"/>
            <a:ext cx="8904300" cy="47100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000"/>
              <a:buFont typeface="Arial"/>
              <a:buChar char="•"/>
            </a:pPr>
            <a:r>
              <a:rPr b="1" i="0" lang="en-US" sz="2000" u="none">
                <a:solidFill>
                  <a:schemeClr val="dk1"/>
                </a:solidFill>
                <a:latin typeface="Verdana"/>
                <a:ea typeface="Verdana"/>
                <a:cs typeface="Verdana"/>
                <a:sym typeface="Verdana"/>
              </a:rPr>
              <a:t>A</a:t>
            </a:r>
            <a:r>
              <a:rPr b="1" i="0" lang="en-US" sz="2000" u="none">
                <a:solidFill>
                  <a:srgbClr val="FF0000"/>
                </a:solidFill>
                <a:latin typeface="Verdana"/>
                <a:ea typeface="Verdana"/>
                <a:cs typeface="Verdana"/>
                <a:sym typeface="Verdana"/>
              </a:rPr>
              <a:t> context switch</a:t>
            </a:r>
            <a:r>
              <a:rPr b="1" i="0" lang="en-US" sz="2000" u="none">
                <a:solidFill>
                  <a:schemeClr val="dk1"/>
                </a:solidFill>
                <a:latin typeface="Verdana"/>
                <a:ea typeface="Verdana"/>
                <a:cs typeface="Verdana"/>
                <a:sym typeface="Verdana"/>
              </a:rPr>
              <a:t> </a:t>
            </a:r>
            <a:r>
              <a:rPr i="0" lang="en-US" sz="2000" u="none">
                <a:solidFill>
                  <a:schemeClr val="dk1"/>
                </a:solidFill>
                <a:latin typeface="Verdana"/>
                <a:ea typeface="Verdana"/>
                <a:cs typeface="Verdana"/>
                <a:sym typeface="Verdana"/>
              </a:rPr>
              <a:t>occurs when a computer’s CPU switches from one process or thread to a different process or thread.</a:t>
            </a:r>
            <a:endParaRPr/>
          </a:p>
          <a:p>
            <a:pPr indent="-342900" lvl="0" marL="342900" marR="0" rtl="0" algn="just">
              <a:lnSpc>
                <a:spcPct val="100000"/>
              </a:lnSpc>
              <a:spcBef>
                <a:spcPts val="0"/>
              </a:spcBef>
              <a:spcAft>
                <a:spcPts val="0"/>
              </a:spcAft>
              <a:buClr>
                <a:schemeClr val="dk1"/>
              </a:buClr>
              <a:buSzPts val="2000"/>
              <a:buFont typeface="Verdana"/>
              <a:buNone/>
            </a:pPr>
            <a:r>
              <a:t/>
            </a:r>
            <a:endParaRPr b="1" i="0" sz="2000" u="none">
              <a:solidFill>
                <a:schemeClr val="dk1"/>
              </a:solidFill>
              <a:latin typeface="Verdana"/>
              <a:ea typeface="Verdana"/>
              <a:cs typeface="Verdana"/>
              <a:sym typeface="Verdana"/>
            </a:endParaRPr>
          </a:p>
          <a:p>
            <a:pPr indent="-342900" lvl="0" marL="342900" marR="0" rtl="0" algn="just">
              <a:lnSpc>
                <a:spcPct val="100000"/>
              </a:lnSpc>
              <a:spcBef>
                <a:spcPts val="0"/>
              </a:spcBef>
              <a:spcAft>
                <a:spcPts val="0"/>
              </a:spcAft>
              <a:buClr>
                <a:schemeClr val="dk1"/>
              </a:buClr>
              <a:buSzPts val="2000"/>
              <a:buFont typeface="Arial"/>
              <a:buChar char="•"/>
            </a:pPr>
            <a:r>
              <a:rPr b="1" i="0" lang="en-US" sz="2000" u="none">
                <a:solidFill>
                  <a:schemeClr val="dk1"/>
                </a:solidFill>
                <a:latin typeface="Verdana"/>
                <a:ea typeface="Verdana"/>
                <a:cs typeface="Verdana"/>
                <a:sym typeface="Verdana"/>
              </a:rPr>
              <a:t>Context switching </a:t>
            </a:r>
            <a:r>
              <a:rPr i="0" lang="en-US" sz="2000" u="none">
                <a:solidFill>
                  <a:schemeClr val="dk1"/>
                </a:solidFill>
                <a:latin typeface="Verdana"/>
                <a:ea typeface="Verdana"/>
                <a:cs typeface="Verdana"/>
                <a:sym typeface="Verdana"/>
              </a:rPr>
              <a:t>allows for one CPU to handle numerous processes or threads without the need for additional processors.</a:t>
            </a:r>
            <a:endParaRPr/>
          </a:p>
          <a:p>
            <a:pPr indent="-215900" lvl="0" marL="342900" marR="0" rtl="0" algn="just">
              <a:lnSpc>
                <a:spcPct val="100000"/>
              </a:lnSpc>
              <a:spcBef>
                <a:spcPts val="0"/>
              </a:spcBef>
              <a:spcAft>
                <a:spcPts val="0"/>
              </a:spcAft>
              <a:buClr>
                <a:schemeClr val="dk1"/>
              </a:buClr>
              <a:buSzPts val="2000"/>
              <a:buFont typeface="Arial"/>
              <a:buNone/>
            </a:pPr>
            <a:r>
              <a:t/>
            </a:r>
            <a:endParaRPr b="1" i="0" sz="2000" u="none">
              <a:solidFill>
                <a:schemeClr val="dk1"/>
              </a:solidFill>
              <a:latin typeface="Verdana"/>
              <a:ea typeface="Verdana"/>
              <a:cs typeface="Verdana"/>
              <a:sym typeface="Verdana"/>
            </a:endParaRPr>
          </a:p>
          <a:p>
            <a:pPr indent="-342900" lvl="0" marL="342900" marR="0" rtl="0" algn="just">
              <a:lnSpc>
                <a:spcPct val="100000"/>
              </a:lnSpc>
              <a:spcBef>
                <a:spcPts val="0"/>
              </a:spcBef>
              <a:spcAft>
                <a:spcPts val="0"/>
              </a:spcAft>
              <a:buClr>
                <a:schemeClr val="dk1"/>
              </a:buClr>
              <a:buSzPts val="2000"/>
              <a:buFont typeface="Arial"/>
              <a:buChar char="•"/>
            </a:pPr>
            <a:r>
              <a:rPr b="1" i="0" lang="en-US" sz="2000" u="none">
                <a:solidFill>
                  <a:schemeClr val="dk1"/>
                </a:solidFill>
                <a:latin typeface="Verdana"/>
                <a:ea typeface="Verdana"/>
                <a:cs typeface="Verdana"/>
                <a:sym typeface="Verdana"/>
              </a:rPr>
              <a:t>A context switch </a:t>
            </a:r>
            <a:r>
              <a:rPr i="0" lang="en-US" sz="2000" u="none">
                <a:solidFill>
                  <a:schemeClr val="dk1"/>
                </a:solidFill>
                <a:latin typeface="Verdana"/>
                <a:ea typeface="Verdana"/>
                <a:cs typeface="Verdana"/>
                <a:sym typeface="Verdana"/>
              </a:rPr>
              <a:t>is the mechanism to store and restore the </a:t>
            </a:r>
            <a:r>
              <a:rPr i="0" lang="en-US" sz="2000" u="none">
                <a:solidFill>
                  <a:srgbClr val="FF0000"/>
                </a:solidFill>
                <a:latin typeface="Verdana"/>
                <a:ea typeface="Verdana"/>
                <a:cs typeface="Verdana"/>
                <a:sym typeface="Verdana"/>
              </a:rPr>
              <a:t>state or context</a:t>
            </a:r>
            <a:r>
              <a:rPr i="0" lang="en-US" sz="2000" u="none">
                <a:solidFill>
                  <a:schemeClr val="dk1"/>
                </a:solidFill>
                <a:latin typeface="Verdana"/>
                <a:ea typeface="Verdana"/>
                <a:cs typeface="Verdana"/>
                <a:sym typeface="Verdana"/>
              </a:rPr>
              <a:t> of a CPU in Process Control block so that a process execution can be resumed from the same point at a later time.</a:t>
            </a:r>
            <a:endParaRPr/>
          </a:p>
          <a:p>
            <a:pPr indent="-215900" lvl="0" marL="342900" marR="0" rtl="0" algn="just">
              <a:lnSpc>
                <a:spcPct val="100000"/>
              </a:lnSpc>
              <a:spcBef>
                <a:spcPts val="0"/>
              </a:spcBef>
              <a:spcAft>
                <a:spcPts val="0"/>
              </a:spcAft>
              <a:buClr>
                <a:schemeClr val="dk1"/>
              </a:buClr>
              <a:buSzPts val="2000"/>
              <a:buFont typeface="Arial"/>
              <a:buNone/>
            </a:pPr>
            <a:r>
              <a:t/>
            </a:r>
            <a:endParaRPr b="1" i="0" sz="2000" u="none">
              <a:solidFill>
                <a:schemeClr val="dk1"/>
              </a:solidFill>
              <a:latin typeface="Verdana"/>
              <a:ea typeface="Verdana"/>
              <a:cs typeface="Verdana"/>
              <a:sym typeface="Verdana"/>
            </a:endParaRPr>
          </a:p>
          <a:p>
            <a:pPr indent="-342900" lvl="0" marL="342900" marR="0" rtl="0" algn="just">
              <a:lnSpc>
                <a:spcPct val="100000"/>
              </a:lnSpc>
              <a:spcBef>
                <a:spcPts val="0"/>
              </a:spcBef>
              <a:spcAft>
                <a:spcPts val="0"/>
              </a:spcAft>
              <a:buClr>
                <a:schemeClr val="dk1"/>
              </a:buClr>
              <a:buSzPts val="2000"/>
              <a:buFont typeface="Arial"/>
              <a:buChar char="•"/>
            </a:pPr>
            <a:r>
              <a:rPr b="1" i="0" lang="en-US" sz="2000" u="none">
                <a:solidFill>
                  <a:schemeClr val="dk1"/>
                </a:solidFill>
                <a:latin typeface="Verdana"/>
                <a:ea typeface="Verdana"/>
                <a:cs typeface="Verdana"/>
                <a:sym typeface="Verdana"/>
              </a:rPr>
              <a:t>Any operating system that allows for multitasking relies heavily on the use of context switching to allow different processes to run at the same time.</a:t>
            </a:r>
            <a:endParaRPr b="1" i="0" sz="2000" u="none">
              <a:solidFill>
                <a:schemeClr val="dk1"/>
              </a:solidFill>
              <a:latin typeface="Verdana"/>
              <a:ea typeface="Verdana"/>
              <a:cs typeface="Verdana"/>
              <a:sym typeface="Verdana"/>
            </a:endParaRPr>
          </a:p>
          <a:p>
            <a:pPr indent="-342900" lvl="0" marL="342900" marR="0" rtl="0" algn="just">
              <a:lnSpc>
                <a:spcPct val="100000"/>
              </a:lnSpc>
              <a:spcBef>
                <a:spcPts val="0"/>
              </a:spcBef>
              <a:spcAft>
                <a:spcPts val="0"/>
              </a:spcAft>
              <a:buClr>
                <a:schemeClr val="dk1"/>
              </a:buClr>
              <a:buSzPts val="2000"/>
              <a:buFont typeface="Verdana"/>
              <a:buNone/>
            </a:pPr>
            <a:r>
              <a:rPr b="1" i="0" lang="en-US" sz="2000" u="none">
                <a:solidFill>
                  <a:schemeClr val="dk1"/>
                </a:solidFill>
                <a:latin typeface="Verdana"/>
                <a:ea typeface="Verdana"/>
                <a:cs typeface="Verdana"/>
                <a:sym typeface="Verdana"/>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Context switch </a:t>
            </a:r>
            <a:endParaRPr/>
          </a:p>
        </p:txBody>
      </p:sp>
      <p:sp>
        <p:nvSpPr>
          <p:cNvPr id="192" name="Google Shape;192;p16"/>
          <p:cNvSpPr txBox="1"/>
          <p:nvPr/>
        </p:nvSpPr>
        <p:spPr>
          <a:xfrm>
            <a:off x="87312" y="1555750"/>
            <a:ext cx="8850300" cy="3786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Verdana"/>
              <a:buNone/>
            </a:pPr>
            <a:r>
              <a:rPr b="1" i="0" lang="en-US" sz="2400" u="none">
                <a:solidFill>
                  <a:schemeClr val="dk1"/>
                </a:solidFill>
                <a:latin typeface="Verdana"/>
                <a:ea typeface="Verdana"/>
                <a:cs typeface="Verdana"/>
                <a:sym typeface="Verdana"/>
              </a:rPr>
              <a:t>Typically, there are three situations that a context switch is necessary, as shown below.</a:t>
            </a:r>
            <a:endParaRPr/>
          </a:p>
          <a:p>
            <a:pPr indent="-152400" lvl="0" marL="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Verdana"/>
                <a:ea typeface="Verdana"/>
                <a:cs typeface="Verdana"/>
                <a:sym typeface="Verdana"/>
              </a:rPr>
              <a:t>Multitasking – </a:t>
            </a:r>
            <a:r>
              <a:rPr i="0" lang="en-US" sz="2400" u="none">
                <a:solidFill>
                  <a:schemeClr val="dk1"/>
                </a:solidFill>
                <a:latin typeface="Verdana"/>
                <a:ea typeface="Verdana"/>
                <a:cs typeface="Verdana"/>
                <a:sym typeface="Verdana"/>
              </a:rPr>
              <a:t>When the CPU needs to switch processes in and out of memory, so that more than one process can be running.</a:t>
            </a:r>
            <a:endParaRPr b="1" i="0" sz="2400" u="none">
              <a:solidFill>
                <a:schemeClr val="dk1"/>
              </a:solidFill>
              <a:latin typeface="Verdana"/>
              <a:ea typeface="Verdana"/>
              <a:cs typeface="Verdana"/>
              <a:sym typeface="Verdana"/>
            </a:endParaRPr>
          </a:p>
          <a:p>
            <a:pPr indent="-152400" lvl="0" marL="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Verdana"/>
                <a:ea typeface="Verdana"/>
                <a:cs typeface="Verdana"/>
                <a:sym typeface="Verdana"/>
              </a:rPr>
              <a:t>Kernel/User Switch – </a:t>
            </a:r>
            <a:r>
              <a:rPr i="0" lang="en-US" sz="2400" u="none">
                <a:solidFill>
                  <a:schemeClr val="dk1"/>
                </a:solidFill>
                <a:latin typeface="Verdana"/>
                <a:ea typeface="Verdana"/>
                <a:cs typeface="Verdana"/>
                <a:sym typeface="Verdana"/>
              </a:rPr>
              <a:t>When switching between user mode to kernel mode, it may be used (but isn’t always necessary).</a:t>
            </a:r>
            <a:endParaRPr/>
          </a:p>
          <a:p>
            <a:pPr indent="-152400" lvl="0" marL="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Verdana"/>
                <a:ea typeface="Verdana"/>
                <a:cs typeface="Verdana"/>
                <a:sym typeface="Verdana"/>
              </a:rPr>
              <a:t>Interrupts – </a:t>
            </a:r>
            <a:r>
              <a:rPr i="0" lang="en-US" sz="2400" u="none">
                <a:solidFill>
                  <a:schemeClr val="dk1"/>
                </a:solidFill>
                <a:latin typeface="Verdana"/>
                <a:ea typeface="Verdana"/>
                <a:cs typeface="Verdana"/>
                <a:sym typeface="Verdana"/>
              </a:rPr>
              <a:t>When the CPU is interrupted to return data from a disk read.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788987" y="254000"/>
            <a:ext cx="7056437" cy="5048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3000"/>
              <a:buFont typeface="Calibri"/>
              <a:buNone/>
            </a:pPr>
            <a:r>
              <a:rPr b="1" i="0" lang="en-US" sz="3000" u="none">
                <a:solidFill>
                  <a:srgbClr val="FF0000"/>
                </a:solidFill>
                <a:latin typeface="Calibri"/>
                <a:ea typeface="Calibri"/>
                <a:cs typeface="Calibri"/>
                <a:sym typeface="Calibri"/>
              </a:rPr>
              <a:t>Context Switch</a:t>
            </a:r>
            <a:endParaRPr/>
          </a:p>
        </p:txBody>
      </p:sp>
      <p:sp>
        <p:nvSpPr>
          <p:cNvPr id="198" name="Google Shape;198;p17"/>
          <p:cNvSpPr txBox="1"/>
          <p:nvPr/>
        </p:nvSpPr>
        <p:spPr>
          <a:xfrm>
            <a:off x="219075" y="1117600"/>
            <a:ext cx="8924925" cy="532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Verdana"/>
              <a:buNone/>
            </a:pPr>
            <a:r>
              <a:rPr b="1" i="0" lang="en-US" sz="2000" u="none">
                <a:solidFill>
                  <a:schemeClr val="dk1"/>
                </a:solidFill>
                <a:latin typeface="Verdana"/>
                <a:ea typeface="Verdana"/>
                <a:cs typeface="Verdana"/>
                <a:sym typeface="Verdana"/>
              </a:rPr>
              <a:t>The steps in a full process switch are:</a:t>
            </a:r>
            <a:endParaRPr/>
          </a:p>
          <a:p>
            <a:pPr indent="-127000" lvl="0" marL="0" marR="0" rtl="0" algn="l">
              <a:lnSpc>
                <a:spcPct val="100000"/>
              </a:lnSpc>
              <a:spcBef>
                <a:spcPts val="0"/>
              </a:spcBef>
              <a:spcAft>
                <a:spcPts val="0"/>
              </a:spcAft>
              <a:buClr>
                <a:schemeClr val="dk1"/>
              </a:buClr>
              <a:buSzPts val="2000"/>
              <a:buFont typeface="Arial"/>
              <a:buAutoNum type="arabicPeriod"/>
            </a:pPr>
            <a:r>
              <a:rPr b="1" i="0" lang="en-US" sz="2000" u="none">
                <a:solidFill>
                  <a:schemeClr val="dk1"/>
                </a:solidFill>
                <a:latin typeface="Verdana"/>
                <a:ea typeface="Verdana"/>
                <a:cs typeface="Verdana"/>
                <a:sym typeface="Verdana"/>
              </a:rPr>
              <a:t>Save the context of the process, including program counter and other registers.</a:t>
            </a:r>
            <a:endParaRPr/>
          </a:p>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Verdana"/>
              <a:ea typeface="Verdana"/>
              <a:cs typeface="Verdana"/>
              <a:sym typeface="Verdana"/>
            </a:endParaRPr>
          </a:p>
          <a:p>
            <a:pPr indent="-127000" lvl="0" marL="0" marR="0" rtl="0" algn="l">
              <a:lnSpc>
                <a:spcPct val="100000"/>
              </a:lnSpc>
              <a:spcBef>
                <a:spcPts val="0"/>
              </a:spcBef>
              <a:spcAft>
                <a:spcPts val="0"/>
              </a:spcAft>
              <a:buClr>
                <a:schemeClr val="dk1"/>
              </a:buClr>
              <a:buSzPts val="2000"/>
              <a:buFont typeface="Arial"/>
              <a:buAutoNum type="arabicPeriod"/>
            </a:pPr>
            <a:r>
              <a:rPr b="1" i="0" lang="en-US" sz="2000" u="none">
                <a:solidFill>
                  <a:schemeClr val="dk1"/>
                </a:solidFill>
                <a:latin typeface="Verdana"/>
                <a:ea typeface="Verdana"/>
                <a:cs typeface="Verdana"/>
                <a:sym typeface="Verdana"/>
              </a:rPr>
              <a:t>Update the process control block of the process that is currently in the Running state. </a:t>
            </a:r>
            <a:endParaRPr/>
          </a:p>
          <a:p>
            <a:pPr indent="0" lvl="0" marL="0" marR="0" rtl="0" algn="l">
              <a:lnSpc>
                <a:spcPct val="100000"/>
              </a:lnSpc>
              <a:spcBef>
                <a:spcPts val="0"/>
              </a:spcBef>
              <a:spcAft>
                <a:spcPts val="0"/>
              </a:spcAft>
              <a:buClr>
                <a:schemeClr val="dk1"/>
              </a:buClr>
              <a:buSzPts val="2000"/>
              <a:buFont typeface="Verdana"/>
              <a:buNone/>
            </a:pPr>
            <a:r>
              <a:t/>
            </a:r>
            <a:endParaRPr b="1" i="0" sz="20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2000"/>
              <a:buFont typeface="Verdana"/>
              <a:buNone/>
            </a:pPr>
            <a:r>
              <a:rPr b="1" i="0" lang="en-US" sz="2000" u="none">
                <a:solidFill>
                  <a:schemeClr val="dk1"/>
                </a:solidFill>
                <a:latin typeface="Verdana"/>
                <a:ea typeface="Verdana"/>
                <a:cs typeface="Verdana"/>
                <a:sym typeface="Verdana"/>
              </a:rPr>
              <a:t>This includes changing the state of the process to one of the other states (Ready; Blocked; Ready/Suspend; or Exit). </a:t>
            </a:r>
            <a:endParaRPr/>
          </a:p>
          <a:p>
            <a:pPr indent="0" lvl="0" marL="0" marR="0" rtl="0" algn="l">
              <a:lnSpc>
                <a:spcPct val="100000"/>
              </a:lnSpc>
              <a:spcBef>
                <a:spcPts val="0"/>
              </a:spcBef>
              <a:spcAft>
                <a:spcPts val="0"/>
              </a:spcAft>
              <a:buClr>
                <a:schemeClr val="dk1"/>
              </a:buClr>
              <a:buSzPts val="2000"/>
              <a:buFont typeface="Verdana"/>
              <a:buNone/>
            </a:pPr>
            <a:r>
              <a:t/>
            </a:r>
            <a:endParaRPr b="1" i="0" sz="20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2000"/>
              <a:buFont typeface="Verdana"/>
              <a:buNone/>
            </a:pPr>
            <a:r>
              <a:rPr b="1" i="0" lang="en-US" sz="2000" u="none">
                <a:solidFill>
                  <a:schemeClr val="dk1"/>
                </a:solidFill>
                <a:latin typeface="Verdana"/>
                <a:ea typeface="Verdana"/>
                <a:cs typeface="Verdana"/>
                <a:sym typeface="Verdana"/>
              </a:rPr>
              <a:t>Other relevant fields must also be updated, including the reason for leaving the Running state and accounting information.</a:t>
            </a:r>
            <a:endParaRPr/>
          </a:p>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Verdana"/>
              <a:ea typeface="Verdana"/>
              <a:cs typeface="Verdana"/>
              <a:sym typeface="Verdana"/>
            </a:endParaRPr>
          </a:p>
          <a:p>
            <a:pPr indent="-127000" lvl="0" marL="0" marR="0" rtl="0" algn="l">
              <a:lnSpc>
                <a:spcPct val="100000"/>
              </a:lnSpc>
              <a:spcBef>
                <a:spcPts val="0"/>
              </a:spcBef>
              <a:spcAft>
                <a:spcPts val="0"/>
              </a:spcAft>
              <a:buClr>
                <a:schemeClr val="dk1"/>
              </a:buClr>
              <a:buSzPts val="2000"/>
              <a:buFont typeface="Arial"/>
              <a:buAutoNum type="arabicPeriod" startAt="3"/>
            </a:pPr>
            <a:r>
              <a:rPr b="1" i="0" lang="en-US" sz="2000" u="none">
                <a:solidFill>
                  <a:schemeClr val="dk1"/>
                </a:solidFill>
                <a:latin typeface="Verdana"/>
                <a:ea typeface="Verdana"/>
                <a:cs typeface="Verdana"/>
                <a:sym typeface="Verdana"/>
              </a:rPr>
              <a:t>Move the process control block of this process to the appropriate queue (Ready; Blocked on Event </a:t>
            </a:r>
            <a:r>
              <a:rPr b="1" i="1" lang="en-US" sz="2000" u="none">
                <a:solidFill>
                  <a:schemeClr val="dk1"/>
                </a:solidFill>
                <a:latin typeface="Verdana"/>
                <a:ea typeface="Verdana"/>
                <a:cs typeface="Verdana"/>
                <a:sym typeface="Verdana"/>
              </a:rPr>
              <a:t>i ; Ready/Suspend).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8"/>
          <p:cNvSpPr txBox="1"/>
          <p:nvPr>
            <p:ph type="title"/>
          </p:nvPr>
        </p:nvSpPr>
        <p:spPr>
          <a:xfrm>
            <a:off x="1423987" y="0"/>
            <a:ext cx="6210300" cy="9191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0000"/>
              </a:buClr>
              <a:buSzPts val="3300"/>
              <a:buFont typeface="Calibri"/>
              <a:buNone/>
            </a:pPr>
            <a:r>
              <a:rPr b="1" i="0" lang="en-US" sz="3300" u="none">
                <a:solidFill>
                  <a:srgbClr val="FF0000"/>
                </a:solidFill>
                <a:latin typeface="Calibri"/>
                <a:ea typeface="Calibri"/>
                <a:cs typeface="Calibri"/>
                <a:sym typeface="Calibri"/>
              </a:rPr>
              <a:t>Context switch cont…..</a:t>
            </a:r>
            <a:endParaRPr/>
          </a:p>
        </p:txBody>
      </p:sp>
      <p:sp>
        <p:nvSpPr>
          <p:cNvPr id="204" name="Google Shape;204;p18"/>
          <p:cNvSpPr txBox="1"/>
          <p:nvPr/>
        </p:nvSpPr>
        <p:spPr>
          <a:xfrm>
            <a:off x="358775" y="588962"/>
            <a:ext cx="8491537" cy="60007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a:solidFill>
                <a:schemeClr val="dk1"/>
              </a:solidFill>
              <a:latin typeface="Verdana"/>
              <a:ea typeface="Verdana"/>
              <a:cs typeface="Verdana"/>
              <a:sym typeface="Verdana"/>
            </a:endParaRPr>
          </a:p>
          <a:p>
            <a:pPr indent="-152400" lvl="0" marL="0" marR="0" rtl="0" algn="l">
              <a:lnSpc>
                <a:spcPct val="100000"/>
              </a:lnSpc>
              <a:spcBef>
                <a:spcPts val="0"/>
              </a:spcBef>
              <a:spcAft>
                <a:spcPts val="0"/>
              </a:spcAft>
              <a:buClr>
                <a:schemeClr val="dk1"/>
              </a:buClr>
              <a:buSzPts val="2400"/>
              <a:buFont typeface="Arial"/>
              <a:buAutoNum type="arabicPeriod" startAt="4"/>
            </a:pPr>
            <a:r>
              <a:rPr b="1" i="0" lang="en-US" sz="2400" u="none">
                <a:solidFill>
                  <a:schemeClr val="dk1"/>
                </a:solidFill>
                <a:latin typeface="Verdana"/>
                <a:ea typeface="Verdana"/>
                <a:cs typeface="Verdana"/>
                <a:sym typeface="Verdana"/>
              </a:rPr>
              <a:t>Select another process for execution.</a:t>
            </a:r>
            <a:endParaRPr/>
          </a:p>
          <a:p>
            <a:pPr indent="0" lvl="0" marL="0" marR="0" rtl="0" algn="l">
              <a:lnSpc>
                <a:spcPct val="100000"/>
              </a:lnSpc>
              <a:spcBef>
                <a:spcPts val="0"/>
              </a:spcBef>
              <a:spcAft>
                <a:spcPts val="0"/>
              </a:spcAft>
              <a:buClr>
                <a:schemeClr val="dk1"/>
              </a:buClr>
              <a:buSzPts val="2400"/>
              <a:buFont typeface="Verdana"/>
              <a:buNone/>
            </a:pPr>
            <a:r>
              <a:t/>
            </a:r>
            <a:endParaRPr b="1" i="0" sz="2400" u="none">
              <a:solidFill>
                <a:schemeClr val="dk1"/>
              </a:solidFill>
              <a:latin typeface="Verdana"/>
              <a:ea typeface="Verdana"/>
              <a:cs typeface="Verdana"/>
              <a:sym typeface="Verdana"/>
            </a:endParaRPr>
          </a:p>
          <a:p>
            <a:pPr indent="-152400" lvl="0" marL="0" marR="0" rtl="0" algn="l">
              <a:lnSpc>
                <a:spcPct val="100000"/>
              </a:lnSpc>
              <a:spcBef>
                <a:spcPts val="0"/>
              </a:spcBef>
              <a:spcAft>
                <a:spcPts val="0"/>
              </a:spcAft>
              <a:buClr>
                <a:schemeClr val="dk1"/>
              </a:buClr>
              <a:buSzPts val="2400"/>
              <a:buFont typeface="Arial"/>
              <a:buAutoNum type="arabicPeriod" startAt="4"/>
            </a:pPr>
            <a:r>
              <a:rPr b="1" i="0" lang="en-US" sz="2400" u="none">
                <a:solidFill>
                  <a:schemeClr val="dk1"/>
                </a:solidFill>
                <a:latin typeface="Verdana"/>
                <a:ea typeface="Verdana"/>
                <a:cs typeface="Verdana"/>
                <a:sym typeface="Verdana"/>
              </a:rPr>
              <a:t>Update the process control block of the process selected. This includes changing the state of this process to Running.</a:t>
            </a:r>
            <a:endParaRPr/>
          </a:p>
          <a:p>
            <a:pPr indent="0" lvl="0" marL="0" marR="0" rtl="0" algn="l">
              <a:lnSpc>
                <a:spcPct val="100000"/>
              </a:lnSpc>
              <a:spcBef>
                <a:spcPts val="0"/>
              </a:spcBef>
              <a:spcAft>
                <a:spcPts val="0"/>
              </a:spcAft>
              <a:buClr>
                <a:schemeClr val="dk1"/>
              </a:buClr>
              <a:buSzPts val="2400"/>
              <a:buFont typeface="Verdana"/>
              <a:buNone/>
            </a:pPr>
            <a:r>
              <a:t/>
            </a:r>
            <a:endParaRPr b="1" i="0" sz="2400" u="none">
              <a:solidFill>
                <a:schemeClr val="dk1"/>
              </a:solidFill>
              <a:latin typeface="Verdana"/>
              <a:ea typeface="Verdana"/>
              <a:cs typeface="Verdana"/>
              <a:sym typeface="Verdana"/>
            </a:endParaRPr>
          </a:p>
          <a:p>
            <a:pPr indent="-152400" lvl="0" marL="0" marR="0" rtl="0" algn="l">
              <a:lnSpc>
                <a:spcPct val="100000"/>
              </a:lnSpc>
              <a:spcBef>
                <a:spcPts val="0"/>
              </a:spcBef>
              <a:spcAft>
                <a:spcPts val="0"/>
              </a:spcAft>
              <a:buClr>
                <a:schemeClr val="dk1"/>
              </a:buClr>
              <a:buSzPts val="2400"/>
              <a:buFont typeface="Arial"/>
              <a:buAutoNum type="arabicPeriod" startAt="4"/>
            </a:pPr>
            <a:r>
              <a:rPr b="1" i="0" lang="en-US" sz="2400" u="none">
                <a:solidFill>
                  <a:schemeClr val="dk1"/>
                </a:solidFill>
                <a:latin typeface="Verdana"/>
                <a:ea typeface="Verdana"/>
                <a:cs typeface="Verdana"/>
                <a:sym typeface="Verdana"/>
              </a:rPr>
              <a:t>Update memory management data structures. This may be required, depending on how address translation is managed.</a:t>
            </a:r>
            <a:endParaRPr/>
          </a:p>
          <a:p>
            <a:pPr indent="0" lvl="0" marL="0" marR="0" rtl="0" algn="l">
              <a:lnSpc>
                <a:spcPct val="100000"/>
              </a:lnSpc>
              <a:spcBef>
                <a:spcPts val="0"/>
              </a:spcBef>
              <a:spcAft>
                <a:spcPts val="0"/>
              </a:spcAft>
              <a:buClr>
                <a:schemeClr val="dk1"/>
              </a:buClr>
              <a:buSzPts val="2400"/>
              <a:buFont typeface="Verdana"/>
              <a:buNone/>
            </a:pPr>
            <a:r>
              <a:t/>
            </a:r>
            <a:endParaRPr b="1" i="0" sz="2400" u="none">
              <a:solidFill>
                <a:schemeClr val="dk1"/>
              </a:solidFill>
              <a:latin typeface="Verdana"/>
              <a:ea typeface="Verdana"/>
              <a:cs typeface="Verdana"/>
              <a:sym typeface="Verdana"/>
            </a:endParaRPr>
          </a:p>
          <a:p>
            <a:pPr indent="-152400" lvl="0" marL="0" marR="0" rtl="0" algn="l">
              <a:lnSpc>
                <a:spcPct val="100000"/>
              </a:lnSpc>
              <a:spcBef>
                <a:spcPts val="0"/>
              </a:spcBef>
              <a:spcAft>
                <a:spcPts val="0"/>
              </a:spcAft>
              <a:buClr>
                <a:schemeClr val="dk1"/>
              </a:buClr>
              <a:buSzPts val="2400"/>
              <a:buFont typeface="Arial"/>
              <a:buAutoNum type="arabicPeriod" startAt="4"/>
            </a:pPr>
            <a:r>
              <a:rPr b="1" i="0" lang="en-US" sz="2400" u="none">
                <a:solidFill>
                  <a:schemeClr val="dk1"/>
                </a:solidFill>
                <a:latin typeface="Verdana"/>
                <a:ea typeface="Verdana"/>
                <a:cs typeface="Verdana"/>
                <a:sym typeface="Verdana"/>
              </a:rPr>
              <a:t>Restore the context of the process to that which existed at the time the selected process was last switched out of the Running state, by loading in the previous values of the program counter and other registers.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txBox="1"/>
          <p:nvPr>
            <p:ph type="title"/>
          </p:nvPr>
        </p:nvSpPr>
        <p:spPr>
          <a:xfrm>
            <a:off x="454025" y="277812"/>
            <a:ext cx="76454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600"/>
              <a:buFont typeface="Calibri"/>
              <a:buNone/>
            </a:pPr>
            <a:r>
              <a:rPr b="1" i="0" lang="en-US" sz="3600" u="none">
                <a:solidFill>
                  <a:schemeClr val="dk1"/>
                </a:solidFill>
                <a:latin typeface="Calibri"/>
                <a:ea typeface="Calibri"/>
                <a:cs typeface="Calibri"/>
                <a:sym typeface="Calibri"/>
              </a:rPr>
              <a:t>Process Scheduling</a:t>
            </a:r>
            <a:endParaRPr/>
          </a:p>
        </p:txBody>
      </p:sp>
      <p:sp>
        <p:nvSpPr>
          <p:cNvPr id="210" name="Google Shape;210;p20"/>
          <p:cNvSpPr txBox="1"/>
          <p:nvPr>
            <p:ph idx="1" type="body"/>
          </p:nvPr>
        </p:nvSpPr>
        <p:spPr>
          <a:xfrm>
            <a:off x="109537" y="1168400"/>
            <a:ext cx="8924925" cy="5178425"/>
          </a:xfrm>
          <a:prstGeom prst="rect">
            <a:avLst/>
          </a:prstGeom>
          <a:noFill/>
          <a:ln>
            <a:noFill/>
          </a:ln>
        </p:spPr>
        <p:txBody>
          <a:bodyPr anchorCtr="0" anchor="t" bIns="45700" lIns="91425" spcFirstLastPara="1" rIns="91425" wrap="square" tIns="45700">
            <a:noAutofit/>
          </a:bodyPr>
          <a:lstStyle/>
          <a:p>
            <a:pPr indent="-203200" lvl="0" marL="171450" marR="0" rtl="0" algn="l">
              <a:lnSpc>
                <a:spcPct val="90000"/>
              </a:lnSpc>
              <a:spcBef>
                <a:spcPts val="0"/>
              </a:spcBef>
              <a:spcAft>
                <a:spcPts val="0"/>
              </a:spcAft>
              <a:buClr>
                <a:schemeClr val="dk1"/>
              </a:buClr>
              <a:buSzPts val="3200"/>
              <a:buFont typeface="Arial"/>
              <a:buChar char="•"/>
            </a:pPr>
            <a:r>
              <a:rPr b="1" i="0" lang="en-US" sz="3200" u="none">
                <a:solidFill>
                  <a:schemeClr val="dk1"/>
                </a:solidFill>
                <a:latin typeface="Calibri"/>
                <a:ea typeface="Calibri"/>
                <a:cs typeface="Calibri"/>
                <a:sym typeface="Calibri"/>
              </a:rPr>
              <a:t>Maximize CPU use, quickly switch processes onto CPU for time sharing.</a:t>
            </a:r>
            <a:endParaRPr/>
          </a:p>
          <a:p>
            <a:pPr indent="-203200" lvl="0" marL="171450" marR="0" rtl="0" algn="l">
              <a:lnSpc>
                <a:spcPct val="90000"/>
              </a:lnSpc>
              <a:spcBef>
                <a:spcPts val="700"/>
              </a:spcBef>
              <a:spcAft>
                <a:spcPts val="0"/>
              </a:spcAft>
              <a:buClr>
                <a:schemeClr val="dk1"/>
              </a:buClr>
              <a:buSzPts val="3200"/>
              <a:buFont typeface="Arial"/>
              <a:buChar char="•"/>
            </a:pPr>
            <a:r>
              <a:rPr b="1" i="0" lang="en-US" sz="3200" u="none">
                <a:solidFill>
                  <a:schemeClr val="dk1"/>
                </a:solidFill>
                <a:latin typeface="Calibri"/>
                <a:ea typeface="Calibri"/>
                <a:cs typeface="Calibri"/>
                <a:sym typeface="Calibri"/>
              </a:rPr>
              <a:t>Process scheduler selects among available processes for next execution on CPU.</a:t>
            </a:r>
            <a:endParaRPr/>
          </a:p>
          <a:p>
            <a:pPr indent="-203200" lvl="0" marL="171450" marR="0" rtl="0" algn="l">
              <a:lnSpc>
                <a:spcPct val="90000"/>
              </a:lnSpc>
              <a:spcBef>
                <a:spcPts val="700"/>
              </a:spcBef>
              <a:spcAft>
                <a:spcPts val="0"/>
              </a:spcAft>
              <a:buClr>
                <a:schemeClr val="dk1"/>
              </a:buClr>
              <a:buSzPts val="3200"/>
              <a:buFont typeface="Arial"/>
              <a:buChar char="•"/>
            </a:pPr>
            <a:r>
              <a:rPr b="1" i="0" lang="en-US" sz="3200" u="none">
                <a:solidFill>
                  <a:schemeClr val="dk1"/>
                </a:solidFill>
                <a:latin typeface="Calibri"/>
                <a:ea typeface="Calibri"/>
                <a:cs typeface="Calibri"/>
                <a:sym typeface="Calibri"/>
              </a:rPr>
              <a:t>Maintains scheduling queues of processes</a:t>
            </a:r>
            <a:endParaRPr/>
          </a:p>
          <a:p>
            <a:pPr indent="-177800" lvl="1" marL="514350" marR="0" rtl="0" algn="l">
              <a:lnSpc>
                <a:spcPct val="90000"/>
              </a:lnSpc>
              <a:spcBef>
                <a:spcPts val="300"/>
              </a:spcBef>
              <a:spcAft>
                <a:spcPts val="0"/>
              </a:spcAft>
              <a:buClr>
                <a:schemeClr val="dk1"/>
              </a:buClr>
              <a:buSzPts val="2800"/>
              <a:buFont typeface="Arial"/>
              <a:buChar char="•"/>
            </a:pPr>
            <a:r>
              <a:rPr b="1" i="0" lang="en-US" sz="2800" u="none" cap="none" strike="noStrike">
                <a:solidFill>
                  <a:schemeClr val="dk1"/>
                </a:solidFill>
                <a:latin typeface="Calibri"/>
                <a:ea typeface="Calibri"/>
                <a:cs typeface="Calibri"/>
                <a:sym typeface="Calibri"/>
              </a:rPr>
              <a:t>Job queue – set of all processes in the system</a:t>
            </a:r>
            <a:endParaRPr/>
          </a:p>
          <a:p>
            <a:pPr indent="-177800" lvl="1" marL="514350" marR="0" rtl="0" algn="l">
              <a:lnSpc>
                <a:spcPct val="90000"/>
              </a:lnSpc>
              <a:spcBef>
                <a:spcPts val="300"/>
              </a:spcBef>
              <a:spcAft>
                <a:spcPts val="0"/>
              </a:spcAft>
              <a:buClr>
                <a:schemeClr val="dk1"/>
              </a:buClr>
              <a:buSzPts val="2800"/>
              <a:buFont typeface="Arial"/>
              <a:buChar char="•"/>
            </a:pPr>
            <a:r>
              <a:rPr b="1" i="0" lang="en-US" sz="2800" u="none" cap="none" strike="noStrike">
                <a:solidFill>
                  <a:schemeClr val="dk1"/>
                </a:solidFill>
                <a:latin typeface="Calibri"/>
                <a:ea typeface="Calibri"/>
                <a:cs typeface="Calibri"/>
                <a:sym typeface="Calibri"/>
              </a:rPr>
              <a:t>Ready queue – set of all processes residing in main memory, ready and waiting to execute</a:t>
            </a:r>
            <a:endParaRPr/>
          </a:p>
          <a:p>
            <a:pPr indent="-177800" lvl="1" marL="514350" marR="0" rtl="0" algn="l">
              <a:lnSpc>
                <a:spcPct val="90000"/>
              </a:lnSpc>
              <a:spcBef>
                <a:spcPts val="300"/>
              </a:spcBef>
              <a:spcAft>
                <a:spcPts val="0"/>
              </a:spcAft>
              <a:buClr>
                <a:schemeClr val="dk1"/>
              </a:buClr>
              <a:buSzPts val="2800"/>
              <a:buFont typeface="Arial"/>
              <a:buChar char="•"/>
            </a:pPr>
            <a:r>
              <a:rPr b="1" i="0" lang="en-US" sz="2800" u="none" cap="none" strike="noStrike">
                <a:solidFill>
                  <a:schemeClr val="dk1"/>
                </a:solidFill>
                <a:latin typeface="Calibri"/>
                <a:ea typeface="Calibri"/>
                <a:cs typeface="Calibri"/>
                <a:sym typeface="Calibri"/>
              </a:rPr>
              <a:t>Device queues – set of processes waiting for an I/O device</a:t>
            </a:r>
            <a:endParaRPr/>
          </a:p>
          <a:p>
            <a:pPr indent="-177800" lvl="1" marL="514350" marR="0" rtl="0" algn="l">
              <a:lnSpc>
                <a:spcPct val="90000"/>
              </a:lnSpc>
              <a:spcBef>
                <a:spcPts val="300"/>
              </a:spcBef>
              <a:spcAft>
                <a:spcPts val="0"/>
              </a:spcAft>
              <a:buClr>
                <a:schemeClr val="dk1"/>
              </a:buClr>
              <a:buSzPts val="2800"/>
              <a:buFont typeface="Arial"/>
              <a:buChar char="•"/>
            </a:pPr>
            <a:r>
              <a:rPr b="1" i="0" lang="en-US" sz="2800" u="none" cap="none" strike="noStrike">
                <a:solidFill>
                  <a:schemeClr val="dk1"/>
                </a:solidFill>
                <a:latin typeface="Calibri"/>
                <a:ea typeface="Calibri"/>
                <a:cs typeface="Calibri"/>
                <a:sym typeface="Calibri"/>
              </a:rPr>
              <a:t>Processes migrate among the various queues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txBox="1"/>
          <p:nvPr>
            <p:ph type="title"/>
          </p:nvPr>
        </p:nvSpPr>
        <p:spPr>
          <a:xfrm>
            <a:off x="468312" y="106362"/>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Representation of Process Scheduling</a:t>
            </a:r>
            <a:endParaRPr/>
          </a:p>
        </p:txBody>
      </p:sp>
      <p:pic>
        <p:nvPicPr>
          <p:cNvPr descr="3" id="216" name="Google Shape;216;p21"/>
          <p:cNvPicPr preferRelativeResize="0"/>
          <p:nvPr/>
        </p:nvPicPr>
        <p:blipFill rotWithShape="1">
          <a:blip r:embed="rId3">
            <a:alphaModFix/>
          </a:blip>
          <a:srcRect b="0" l="0" r="0" t="0"/>
          <a:stretch/>
        </p:blipFill>
        <p:spPr>
          <a:xfrm>
            <a:off x="93662" y="1052512"/>
            <a:ext cx="8978900" cy="5668962"/>
          </a:xfrm>
          <a:prstGeom prst="rect">
            <a:avLst/>
          </a:prstGeom>
          <a:noFill/>
          <a:ln>
            <a:noFill/>
          </a:ln>
        </p:spPr>
      </p:pic>
      <p:sp>
        <p:nvSpPr>
          <p:cNvPr id="217" name="Google Shape;217;p21"/>
          <p:cNvSpPr txBox="1"/>
          <p:nvPr/>
        </p:nvSpPr>
        <p:spPr>
          <a:xfrm>
            <a:off x="0" y="5653087"/>
            <a:ext cx="8796337" cy="5248275"/>
          </a:xfrm>
          <a:prstGeom prst="rect">
            <a:avLst/>
          </a:prstGeom>
          <a:noFill/>
          <a:ln>
            <a:noFill/>
          </a:ln>
        </p:spPr>
        <p:txBody>
          <a:bodyPr anchorCtr="0" anchor="t" bIns="32000" lIns="64000" spcFirstLastPara="1" rIns="64000" wrap="square" tIns="320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
        <p:nvSpPr>
          <p:cNvPr id="218" name="Google Shape;218;p21"/>
          <p:cNvSpPr txBox="1"/>
          <p:nvPr/>
        </p:nvSpPr>
        <p:spPr>
          <a:xfrm>
            <a:off x="914400" y="682625"/>
            <a:ext cx="7500937" cy="369887"/>
          </a:xfrm>
          <a:prstGeom prst="rect">
            <a:avLst/>
          </a:prstGeom>
          <a:noFill/>
          <a:ln>
            <a:noFill/>
          </a:ln>
        </p:spPr>
        <p:txBody>
          <a:bodyPr anchorCtr="0" anchor="t" bIns="45700" lIns="91425" spcFirstLastPara="1" rIns="91425" wrap="square" tIns="45700">
            <a:spAutoFit/>
          </a:bodyPr>
          <a:lstStyle/>
          <a:p>
            <a:pPr indent="-102870" lvl="0" marL="0" marR="0" rtl="0" algn="l">
              <a:lnSpc>
                <a:spcPct val="100000"/>
              </a:lnSpc>
              <a:spcBef>
                <a:spcPts val="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Queuing diagram </a:t>
            </a:r>
            <a:r>
              <a:rPr b="0" i="0" lang="en-US" sz="1800" u="none">
                <a:solidFill>
                  <a:schemeClr val="dk1"/>
                </a:solidFill>
                <a:latin typeface="Helvetica Neue"/>
                <a:ea typeface="Helvetica Neue"/>
                <a:cs typeface="Helvetica Neue"/>
                <a:sym typeface="Helvetica Neue"/>
              </a:rPr>
              <a:t>represents queues, resources, flows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title"/>
          </p:nvPr>
        </p:nvSpPr>
        <p:spPr>
          <a:xfrm>
            <a:off x="644525" y="0"/>
            <a:ext cx="7886700" cy="5556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Scheduling</a:t>
            </a:r>
            <a:endParaRPr/>
          </a:p>
        </p:txBody>
      </p:sp>
      <p:sp>
        <p:nvSpPr>
          <p:cNvPr id="224" name="Google Shape;224;p22"/>
          <p:cNvSpPr txBox="1"/>
          <p:nvPr/>
        </p:nvSpPr>
        <p:spPr>
          <a:xfrm>
            <a:off x="179387" y="555625"/>
            <a:ext cx="8816975" cy="637063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Palatino"/>
                <a:ea typeface="Palatino"/>
                <a:cs typeface="Palatino"/>
                <a:sym typeface="Palatino"/>
              </a:rPr>
              <a:t>A new process is initially put in the ready queue. </a:t>
            </a:r>
            <a:endParaRPr/>
          </a:p>
          <a:p>
            <a:pPr indent="-304800" lvl="0" marL="4572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Palatino"/>
              <a:ea typeface="Palatino"/>
              <a:cs typeface="Palatino"/>
              <a:sym typeface="Palatino"/>
            </a:endParaRPr>
          </a:p>
          <a:p>
            <a:pPr indent="-457200" lvl="0" marL="45720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Palatino"/>
                <a:ea typeface="Palatino"/>
                <a:cs typeface="Palatino"/>
                <a:sym typeface="Palatino"/>
              </a:rPr>
              <a:t>It waits there until it is selected for execution, or </a:t>
            </a:r>
            <a:r>
              <a:rPr b="1" i="0" lang="en-US" sz="2400" u="none">
                <a:solidFill>
                  <a:schemeClr val="dk1"/>
                </a:solidFill>
                <a:latin typeface="Palatino"/>
                <a:ea typeface="Palatino"/>
                <a:cs typeface="Palatino"/>
                <a:sym typeface="Palatino"/>
              </a:rPr>
              <a:t>dispatched</a:t>
            </a:r>
            <a:r>
              <a:rPr b="1" i="0" lang="en-US" sz="2400" u="none">
                <a:solidFill>
                  <a:schemeClr val="dk1"/>
                </a:solidFill>
                <a:latin typeface="Palatino"/>
                <a:ea typeface="Palatino"/>
                <a:cs typeface="Palatino"/>
                <a:sym typeface="Palatino"/>
              </a:rPr>
              <a:t>. </a:t>
            </a:r>
            <a:endParaRPr/>
          </a:p>
          <a:p>
            <a:pPr indent="-304800" lvl="0" marL="4572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Palatino"/>
              <a:ea typeface="Palatino"/>
              <a:cs typeface="Palatino"/>
              <a:sym typeface="Palatino"/>
            </a:endParaRPr>
          </a:p>
          <a:p>
            <a:pPr indent="-457200" lvl="0" marL="45720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Palatino"/>
                <a:ea typeface="Palatino"/>
                <a:cs typeface="Palatino"/>
                <a:sym typeface="Palatino"/>
              </a:rPr>
              <a:t>Once the process is allocated the </a:t>
            </a:r>
            <a:r>
              <a:rPr b="1" i="0" lang="en-US" sz="2000" u="none">
                <a:solidFill>
                  <a:schemeClr val="dk1"/>
                </a:solidFill>
                <a:latin typeface="Palatino"/>
                <a:ea typeface="Palatino"/>
                <a:cs typeface="Palatino"/>
                <a:sym typeface="Palatino"/>
              </a:rPr>
              <a:t>CPU </a:t>
            </a:r>
            <a:r>
              <a:rPr b="1" i="0" lang="en-US" sz="2400" u="none">
                <a:solidFill>
                  <a:schemeClr val="dk1"/>
                </a:solidFill>
                <a:latin typeface="Palatino"/>
                <a:ea typeface="Palatino"/>
                <a:cs typeface="Palatino"/>
                <a:sym typeface="Palatino"/>
              </a:rPr>
              <a:t>and is executing, one of several events could occur:</a:t>
            </a:r>
            <a:endParaRPr/>
          </a:p>
          <a:p>
            <a:pPr indent="-304800" lvl="0" marL="4572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Palatino"/>
              <a:ea typeface="Palatino"/>
              <a:cs typeface="Palatino"/>
              <a:sym typeface="Palatino"/>
            </a:endParaRPr>
          </a:p>
          <a:p>
            <a:pPr indent="-457200" lvl="0" marL="45720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Palatino"/>
                <a:ea typeface="Palatino"/>
                <a:cs typeface="Palatino"/>
                <a:sym typeface="Palatino"/>
              </a:rPr>
              <a:t>The process could issue an </a:t>
            </a:r>
            <a:r>
              <a:rPr b="1" i="0" lang="en-US" sz="2000" u="none">
                <a:solidFill>
                  <a:schemeClr val="dk1"/>
                </a:solidFill>
                <a:latin typeface="Palatino"/>
                <a:ea typeface="Palatino"/>
                <a:cs typeface="Palatino"/>
                <a:sym typeface="Palatino"/>
              </a:rPr>
              <a:t>I/O </a:t>
            </a:r>
            <a:r>
              <a:rPr b="1" i="0" lang="en-US" sz="2400" u="none">
                <a:solidFill>
                  <a:schemeClr val="dk1"/>
                </a:solidFill>
                <a:latin typeface="Palatino"/>
                <a:ea typeface="Palatino"/>
                <a:cs typeface="Palatino"/>
                <a:sym typeface="Palatino"/>
              </a:rPr>
              <a:t>request and then be placed in an </a:t>
            </a:r>
            <a:r>
              <a:rPr b="1" i="0" lang="en-US" sz="2000" u="none">
                <a:solidFill>
                  <a:schemeClr val="dk1"/>
                </a:solidFill>
                <a:latin typeface="Palatino"/>
                <a:ea typeface="Palatino"/>
                <a:cs typeface="Palatino"/>
                <a:sym typeface="Palatino"/>
              </a:rPr>
              <a:t>I/O </a:t>
            </a:r>
            <a:r>
              <a:rPr b="1" i="0" lang="en-US" sz="2400" u="none">
                <a:solidFill>
                  <a:schemeClr val="dk1"/>
                </a:solidFill>
                <a:latin typeface="Palatino"/>
                <a:ea typeface="Palatino"/>
                <a:cs typeface="Palatino"/>
                <a:sym typeface="Palatino"/>
              </a:rPr>
              <a:t>queue.</a:t>
            </a:r>
            <a:endParaRPr/>
          </a:p>
          <a:p>
            <a:pPr indent="-304800" lvl="0" marL="4572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Palatino"/>
              <a:ea typeface="Palatino"/>
              <a:cs typeface="Palatino"/>
              <a:sym typeface="Palatino"/>
            </a:endParaRPr>
          </a:p>
          <a:p>
            <a:pPr indent="-457200" lvl="0" marL="45720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Palatino"/>
                <a:ea typeface="Palatino"/>
                <a:cs typeface="Palatino"/>
                <a:sym typeface="Palatino"/>
              </a:rPr>
              <a:t>The process could create a new child process and wait for the child’s termination.</a:t>
            </a:r>
            <a:endParaRPr/>
          </a:p>
          <a:p>
            <a:pPr indent="-304800" lvl="0" marL="4572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Palatino"/>
              <a:ea typeface="Palatino"/>
              <a:cs typeface="Palatino"/>
              <a:sym typeface="Palatino"/>
            </a:endParaRPr>
          </a:p>
          <a:p>
            <a:pPr indent="-457200" lvl="0" marL="457200" marR="0" rtl="0" algn="just">
              <a:lnSpc>
                <a:spcPct val="100000"/>
              </a:lnSpc>
              <a:spcBef>
                <a:spcPts val="0"/>
              </a:spcBef>
              <a:spcAft>
                <a:spcPts val="0"/>
              </a:spcAft>
              <a:buClr>
                <a:schemeClr val="dk1"/>
              </a:buClr>
              <a:buSzPts val="2400"/>
              <a:buFont typeface="Arial"/>
              <a:buChar char="•"/>
            </a:pPr>
            <a:r>
              <a:rPr b="1" i="0" lang="en-US" sz="2400" u="none">
                <a:solidFill>
                  <a:schemeClr val="dk1"/>
                </a:solidFill>
                <a:latin typeface="Palatino"/>
                <a:ea typeface="Palatino"/>
                <a:cs typeface="Palatino"/>
                <a:sym typeface="Palatino"/>
              </a:rPr>
              <a:t>The process could be removed forcibly from the </a:t>
            </a:r>
            <a:r>
              <a:rPr b="1" i="0" lang="en-US" sz="2000" u="none">
                <a:solidFill>
                  <a:schemeClr val="dk1"/>
                </a:solidFill>
                <a:latin typeface="Palatino"/>
                <a:ea typeface="Palatino"/>
                <a:cs typeface="Palatino"/>
                <a:sym typeface="Palatino"/>
              </a:rPr>
              <a:t>CPU</a:t>
            </a:r>
            <a:r>
              <a:rPr b="1" i="0" lang="en-US" sz="2400" u="none">
                <a:solidFill>
                  <a:schemeClr val="dk1"/>
                </a:solidFill>
                <a:latin typeface="Palatino"/>
                <a:ea typeface="Palatino"/>
                <a:cs typeface="Palatino"/>
                <a:sym typeface="Palatino"/>
              </a:rPr>
              <a:t>, as a result of an interrupt, and be put back in the ready queue.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type="title"/>
          </p:nvPr>
        </p:nvSpPr>
        <p:spPr>
          <a:xfrm>
            <a:off x="628650" y="365125"/>
            <a:ext cx="7886700" cy="5492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Schedulers</a:t>
            </a:r>
            <a:br>
              <a:rPr b="1" i="0" lang="en-US" sz="3000" u="none">
                <a:solidFill>
                  <a:schemeClr val="dk1"/>
                </a:solidFill>
                <a:latin typeface="Calibri"/>
                <a:ea typeface="Calibri"/>
                <a:cs typeface="Calibri"/>
                <a:sym typeface="Calibri"/>
              </a:rPr>
            </a:br>
            <a:endParaRPr/>
          </a:p>
        </p:txBody>
      </p:sp>
      <p:sp>
        <p:nvSpPr>
          <p:cNvPr id="230" name="Google Shape;230;p23"/>
          <p:cNvSpPr txBox="1"/>
          <p:nvPr/>
        </p:nvSpPr>
        <p:spPr>
          <a:xfrm>
            <a:off x="293687" y="749300"/>
            <a:ext cx="8850300" cy="5264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Verdana"/>
                <a:ea typeface="Verdana"/>
                <a:cs typeface="Verdana"/>
                <a:sym typeface="Verdana"/>
              </a:rPr>
              <a:t>Schedulers are special system software which handle process scheduling in various ways. </a:t>
            </a:r>
            <a:endParaRPr/>
          </a:p>
          <a:p>
            <a:pPr indent="-107950" lvl="0" marL="285750" marR="0" rtl="0" algn="l">
              <a:lnSpc>
                <a:spcPct val="100000"/>
              </a:lnSpc>
              <a:spcBef>
                <a:spcPts val="0"/>
              </a:spcBef>
              <a:spcAft>
                <a:spcPts val="0"/>
              </a:spcAft>
              <a:buClr>
                <a:schemeClr val="dk1"/>
              </a:buClr>
              <a:buSzPts val="2800"/>
              <a:buFont typeface="Arial"/>
              <a:buNone/>
            </a:pPr>
            <a:r>
              <a:t/>
            </a:r>
            <a:endParaRPr b="1" i="0" sz="2800" u="none">
              <a:solidFill>
                <a:schemeClr val="dk1"/>
              </a:solidFill>
              <a:latin typeface="Verdana"/>
              <a:ea typeface="Verdana"/>
              <a:cs typeface="Verdana"/>
              <a:sym typeface="Verdana"/>
            </a:endParaRPr>
          </a:p>
          <a:p>
            <a:pPr indent="-285750" lvl="0" marL="285750" marR="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Verdana"/>
                <a:ea typeface="Verdana"/>
                <a:cs typeface="Verdana"/>
                <a:sym typeface="Verdana"/>
              </a:rPr>
              <a:t>Their main task is to select the jobs to be submitted into the system and to decide which process to run. </a:t>
            </a:r>
            <a:endParaRPr/>
          </a:p>
          <a:p>
            <a:pPr indent="-107950" lvl="0" marL="285750" marR="0" rtl="0" algn="l">
              <a:lnSpc>
                <a:spcPct val="100000"/>
              </a:lnSpc>
              <a:spcBef>
                <a:spcPts val="0"/>
              </a:spcBef>
              <a:spcAft>
                <a:spcPts val="0"/>
              </a:spcAft>
              <a:buClr>
                <a:schemeClr val="dk1"/>
              </a:buClr>
              <a:buSzPts val="2800"/>
              <a:buFont typeface="Arial"/>
              <a:buNone/>
            </a:pPr>
            <a:r>
              <a:t/>
            </a:r>
            <a:endParaRPr b="1" i="0" sz="2800" u="none">
              <a:solidFill>
                <a:schemeClr val="dk1"/>
              </a:solidFill>
              <a:latin typeface="Verdana"/>
              <a:ea typeface="Verdana"/>
              <a:cs typeface="Verdana"/>
              <a:sym typeface="Verdana"/>
            </a:endParaRPr>
          </a:p>
          <a:p>
            <a:pPr indent="-285750" lvl="0" marL="285750" marR="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Verdana"/>
                <a:ea typeface="Verdana"/>
                <a:cs typeface="Verdana"/>
                <a:sym typeface="Verdana"/>
              </a:rPr>
              <a:t>Schedulers are of three types −</a:t>
            </a:r>
            <a:endParaRPr/>
          </a:p>
          <a:p>
            <a:pPr indent="0" lvl="0" marL="0" marR="0" rtl="0" algn="l">
              <a:lnSpc>
                <a:spcPct val="100000"/>
              </a:lnSpc>
              <a:spcBef>
                <a:spcPts val="0"/>
              </a:spcBef>
              <a:spcAft>
                <a:spcPts val="0"/>
              </a:spcAft>
              <a:buNone/>
            </a:pPr>
            <a:r>
              <a:rPr lang="en-US" sz="2800">
                <a:solidFill>
                  <a:schemeClr val="dk1"/>
                </a:solidFill>
                <a:latin typeface="Verdana"/>
                <a:ea typeface="Verdana"/>
                <a:cs typeface="Verdana"/>
                <a:sym typeface="Verdana"/>
              </a:rPr>
              <a:t> </a:t>
            </a:r>
            <a:r>
              <a:rPr i="0" lang="en-US" sz="2800" u="none">
                <a:solidFill>
                  <a:schemeClr val="dk1"/>
                </a:solidFill>
                <a:latin typeface="Verdana"/>
                <a:ea typeface="Verdana"/>
                <a:cs typeface="Verdana"/>
                <a:sym typeface="Verdana"/>
              </a:rPr>
              <a:t>Long-Term Scheduler</a:t>
            </a:r>
            <a:endParaRPr/>
          </a:p>
          <a:p>
            <a:pPr indent="0" lvl="0" marL="0" marR="0" rtl="0" algn="l">
              <a:lnSpc>
                <a:spcPct val="100000"/>
              </a:lnSpc>
              <a:spcBef>
                <a:spcPts val="0"/>
              </a:spcBef>
              <a:spcAft>
                <a:spcPts val="0"/>
              </a:spcAft>
              <a:buNone/>
            </a:pPr>
            <a:r>
              <a:rPr lang="en-US" sz="2800">
                <a:solidFill>
                  <a:schemeClr val="dk1"/>
                </a:solidFill>
                <a:latin typeface="Verdana"/>
                <a:ea typeface="Verdana"/>
                <a:cs typeface="Verdana"/>
                <a:sym typeface="Verdana"/>
              </a:rPr>
              <a:t> </a:t>
            </a:r>
            <a:r>
              <a:rPr i="0" lang="en-US" sz="2800" u="none">
                <a:solidFill>
                  <a:schemeClr val="dk1"/>
                </a:solidFill>
                <a:latin typeface="Verdana"/>
                <a:ea typeface="Verdana"/>
                <a:cs typeface="Verdana"/>
                <a:sym typeface="Verdana"/>
              </a:rPr>
              <a:t>Short-Term Scheduler</a:t>
            </a:r>
            <a:endParaRPr/>
          </a:p>
          <a:p>
            <a:pPr indent="0" lvl="0" marL="0" marR="0" rtl="0" algn="l">
              <a:lnSpc>
                <a:spcPct val="100000"/>
              </a:lnSpc>
              <a:spcBef>
                <a:spcPts val="0"/>
              </a:spcBef>
              <a:spcAft>
                <a:spcPts val="0"/>
              </a:spcAft>
              <a:buNone/>
            </a:pPr>
            <a:r>
              <a:rPr lang="en-US" sz="2800">
                <a:solidFill>
                  <a:schemeClr val="dk1"/>
                </a:solidFill>
                <a:latin typeface="Verdana"/>
                <a:ea typeface="Verdana"/>
                <a:cs typeface="Verdana"/>
                <a:sym typeface="Verdana"/>
              </a:rPr>
              <a:t> </a:t>
            </a:r>
            <a:r>
              <a:rPr i="0" lang="en-US" sz="2800" u="none">
                <a:solidFill>
                  <a:schemeClr val="dk1"/>
                </a:solidFill>
                <a:latin typeface="Verdana"/>
                <a:ea typeface="Verdana"/>
                <a:cs typeface="Verdana"/>
                <a:sym typeface="Verdana"/>
              </a:rPr>
              <a:t>Medium-Term Scheduler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4"/>
          <p:cNvSpPr txBox="1"/>
          <p:nvPr>
            <p:ph type="title"/>
          </p:nvPr>
        </p:nvSpPr>
        <p:spPr>
          <a:xfrm>
            <a:off x="944562" y="0"/>
            <a:ext cx="7886700" cy="13255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0000"/>
              </a:buClr>
              <a:buSzPts val="3300"/>
              <a:buFont typeface="Calibri"/>
              <a:buNone/>
            </a:pPr>
            <a:r>
              <a:rPr b="1" i="0" lang="en-US" sz="3300" u="none">
                <a:solidFill>
                  <a:srgbClr val="FF0000"/>
                </a:solidFill>
                <a:latin typeface="Calibri"/>
                <a:ea typeface="Calibri"/>
                <a:cs typeface="Calibri"/>
                <a:sym typeface="Calibri"/>
              </a:rPr>
              <a:t>Short Term Scheduler(Ready to running)</a:t>
            </a:r>
            <a:br>
              <a:rPr b="1" i="0" lang="en-US" sz="3300" u="none">
                <a:solidFill>
                  <a:schemeClr val="dk1"/>
                </a:solidFill>
                <a:latin typeface="Calibri"/>
                <a:ea typeface="Calibri"/>
                <a:cs typeface="Calibri"/>
                <a:sym typeface="Calibri"/>
              </a:rPr>
            </a:br>
            <a:endParaRPr/>
          </a:p>
        </p:txBody>
      </p:sp>
      <p:sp>
        <p:nvSpPr>
          <p:cNvPr id="236" name="Google Shape;236;p24"/>
          <p:cNvSpPr txBox="1"/>
          <p:nvPr>
            <p:ph idx="1" type="body"/>
          </p:nvPr>
        </p:nvSpPr>
        <p:spPr>
          <a:xfrm>
            <a:off x="0" y="661987"/>
            <a:ext cx="9372600" cy="5934075"/>
          </a:xfrm>
          <a:prstGeom prst="rect">
            <a:avLst/>
          </a:prstGeom>
          <a:noFill/>
          <a:ln>
            <a:noFill/>
          </a:ln>
        </p:spPr>
        <p:txBody>
          <a:bodyPr anchorCtr="0" anchor="t" bIns="45700" lIns="91425" spcFirstLastPara="1" rIns="91425" wrap="square" tIns="45700">
            <a:noAutofit/>
          </a:bodyPr>
          <a:lstStyle/>
          <a:p>
            <a:pPr indent="-203200" lvl="0" marL="171450" marR="0" rtl="0" algn="l">
              <a:lnSpc>
                <a:spcPct val="90000"/>
              </a:lnSpc>
              <a:spcBef>
                <a:spcPts val="0"/>
              </a:spcBef>
              <a:spcAft>
                <a:spcPts val="0"/>
              </a:spcAft>
              <a:buClr>
                <a:schemeClr val="dk1"/>
              </a:buClr>
              <a:buSzPts val="3200"/>
              <a:buChar char="•"/>
            </a:pPr>
            <a:r>
              <a:rPr i="0" lang="en-US" sz="3200" u="none">
                <a:solidFill>
                  <a:schemeClr val="dk1"/>
                </a:solidFill>
              </a:rPr>
              <a:t>It is also called as CPU scheduler.</a:t>
            </a:r>
            <a:endParaRPr/>
          </a:p>
          <a:p>
            <a:pPr indent="-203200" lvl="0" marL="171450" marR="0" rtl="0" algn="l">
              <a:lnSpc>
                <a:spcPct val="90000"/>
              </a:lnSpc>
              <a:spcBef>
                <a:spcPts val="700"/>
              </a:spcBef>
              <a:spcAft>
                <a:spcPts val="0"/>
              </a:spcAft>
              <a:buClr>
                <a:schemeClr val="dk1"/>
              </a:buClr>
              <a:buSzPts val="3200"/>
              <a:buChar char="•"/>
            </a:pPr>
            <a:r>
              <a:rPr i="0" lang="en-US" sz="3200" u="none">
                <a:solidFill>
                  <a:schemeClr val="dk1"/>
                </a:solidFill>
              </a:rPr>
              <a:t> Its main objective is to increase system performance in accordance with the chosen set of criteria. </a:t>
            </a:r>
            <a:endParaRPr/>
          </a:p>
          <a:p>
            <a:pPr indent="-203200" lvl="0" marL="171450" marR="0" rtl="0" algn="l">
              <a:lnSpc>
                <a:spcPct val="90000"/>
              </a:lnSpc>
              <a:spcBef>
                <a:spcPts val="700"/>
              </a:spcBef>
              <a:spcAft>
                <a:spcPts val="0"/>
              </a:spcAft>
              <a:buClr>
                <a:schemeClr val="dk1"/>
              </a:buClr>
              <a:buSzPts val="3200"/>
              <a:buChar char="•"/>
            </a:pPr>
            <a:r>
              <a:rPr i="0" lang="en-US" sz="3200" u="none">
                <a:solidFill>
                  <a:schemeClr val="dk1"/>
                </a:solidFill>
              </a:rPr>
              <a:t>CPU scheduler selects a process among the processes that are ready to execute and allocates CPU to one of them.</a:t>
            </a:r>
            <a:endParaRPr/>
          </a:p>
          <a:p>
            <a:pPr indent="-203200" lvl="0" marL="171450" marR="0" rtl="0" algn="l">
              <a:lnSpc>
                <a:spcPct val="90000"/>
              </a:lnSpc>
              <a:spcBef>
                <a:spcPts val="700"/>
              </a:spcBef>
              <a:spcAft>
                <a:spcPts val="0"/>
              </a:spcAft>
              <a:buClr>
                <a:schemeClr val="dk1"/>
              </a:buClr>
              <a:buSzPts val="3200"/>
              <a:buChar char="•"/>
            </a:pPr>
            <a:r>
              <a:rPr i="0" lang="en-US" sz="3200" u="none">
                <a:solidFill>
                  <a:schemeClr val="dk1"/>
                </a:solidFill>
              </a:rPr>
              <a:t>It is the change of ready state to running state of the process. </a:t>
            </a:r>
            <a:endParaRPr/>
          </a:p>
          <a:p>
            <a:pPr indent="-203200" lvl="0" marL="171450" marR="0" rtl="0" algn="l">
              <a:lnSpc>
                <a:spcPct val="90000"/>
              </a:lnSpc>
              <a:spcBef>
                <a:spcPts val="700"/>
              </a:spcBef>
              <a:spcAft>
                <a:spcPts val="0"/>
              </a:spcAft>
              <a:buClr>
                <a:schemeClr val="dk1"/>
              </a:buClr>
              <a:buSzPts val="3200"/>
              <a:buChar char="•"/>
            </a:pPr>
            <a:r>
              <a:rPr i="0" lang="en-US" sz="3200" u="none">
                <a:solidFill>
                  <a:schemeClr val="dk1"/>
                </a:solidFill>
              </a:rPr>
              <a:t>Short-term schedulers, also known as dispatchers, make the decision of which process to execute next. </a:t>
            </a:r>
            <a:endParaRPr/>
          </a:p>
          <a:p>
            <a:pPr indent="-203200" lvl="0" marL="171450" marR="0" rtl="0" algn="l">
              <a:lnSpc>
                <a:spcPct val="90000"/>
              </a:lnSpc>
              <a:spcBef>
                <a:spcPts val="700"/>
              </a:spcBef>
              <a:spcAft>
                <a:spcPts val="0"/>
              </a:spcAft>
              <a:buClr>
                <a:schemeClr val="dk1"/>
              </a:buClr>
              <a:buSzPts val="3200"/>
              <a:buChar char="•"/>
            </a:pPr>
            <a:r>
              <a:rPr i="0" lang="en-US" sz="3200" u="none">
                <a:solidFill>
                  <a:schemeClr val="dk1"/>
                </a:solidFill>
              </a:rPr>
              <a:t>Short-term schedulers are faster than long-term schedulers.</a:t>
            </a:r>
            <a:endParaRPr/>
          </a:p>
          <a:p>
            <a:pPr indent="0" lvl="0" marL="171450" marR="0" rtl="0" algn="l">
              <a:lnSpc>
                <a:spcPct val="90000"/>
              </a:lnSpc>
              <a:spcBef>
                <a:spcPts val="750"/>
              </a:spcBef>
              <a:spcAft>
                <a:spcPts val="0"/>
              </a:spcAft>
              <a:buClr>
                <a:schemeClr val="dk1"/>
              </a:buClr>
              <a:buSzPts val="3200"/>
              <a:buFont typeface="Arial"/>
              <a:buNone/>
            </a:pPr>
            <a:r>
              <a:t/>
            </a:r>
            <a:endParaRPr i="0" sz="3200" u="none">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0000"/>
              </a:buClr>
              <a:buSzPts val="3300"/>
              <a:buFont typeface="Calibri"/>
              <a:buNone/>
            </a:pPr>
            <a:r>
              <a:rPr b="1" i="0" lang="en-US" sz="3300" u="none">
                <a:solidFill>
                  <a:srgbClr val="FF0000"/>
                </a:solidFill>
                <a:latin typeface="Calibri"/>
                <a:ea typeface="Calibri"/>
                <a:cs typeface="Calibri"/>
                <a:sym typeface="Calibri"/>
              </a:rPr>
              <a:t>Medium Term Scheduler</a:t>
            </a:r>
            <a:br>
              <a:rPr b="1" i="0" lang="en-US" sz="3300" u="none">
                <a:solidFill>
                  <a:schemeClr val="dk1"/>
                </a:solidFill>
                <a:latin typeface="Calibri"/>
                <a:ea typeface="Calibri"/>
                <a:cs typeface="Calibri"/>
                <a:sym typeface="Calibri"/>
              </a:rPr>
            </a:br>
            <a:endParaRPr/>
          </a:p>
        </p:txBody>
      </p:sp>
      <p:sp>
        <p:nvSpPr>
          <p:cNvPr id="242" name="Google Shape;242;p25"/>
          <p:cNvSpPr txBox="1"/>
          <p:nvPr>
            <p:ph idx="1" type="body"/>
          </p:nvPr>
        </p:nvSpPr>
        <p:spPr>
          <a:xfrm>
            <a:off x="98425" y="1120775"/>
            <a:ext cx="9045600" cy="56718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400"/>
              <a:buChar char="•"/>
            </a:pPr>
            <a:r>
              <a:rPr i="0" lang="en-US" sz="2400" u="none">
                <a:solidFill>
                  <a:schemeClr val="dk1"/>
                </a:solidFill>
              </a:rPr>
              <a:t>Medium-term scheduling is a part of swapping.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It removes the processes from the memory. It reduces the degree of multiprogramming.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The medium-term scheduler is in-charge of handling the swapped out-processes.</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A running process may become suspended if it makes an I/O request.</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 A suspended processes cannot make any progress towards completion.</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 In this condition, to remove the process from memory and make space for other processes, the suspended process is moved to the secondary storage.</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 This process is called swapping, and the process is said to be swapped out or rolled out. Swapping may be necessary to improve the process mix.</a:t>
            </a:r>
            <a:endParaRPr/>
          </a:p>
          <a:p>
            <a:pPr indent="-19050" lvl="0" marL="171450" marR="0" rtl="0" algn="l">
              <a:lnSpc>
                <a:spcPct val="90000"/>
              </a:lnSpc>
              <a:spcBef>
                <a:spcPts val="750"/>
              </a:spcBef>
              <a:spcAft>
                <a:spcPts val="0"/>
              </a:spcAft>
              <a:buClr>
                <a:schemeClr val="dk1"/>
              </a:buClr>
              <a:buSzPts val="2400"/>
              <a:buFont typeface="Arial"/>
              <a:buNone/>
            </a:pPr>
            <a:r>
              <a:t/>
            </a:r>
            <a:endParaRPr i="0" sz="2400" u="none">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ph type="title"/>
          </p:nvPr>
        </p:nvSpPr>
        <p:spPr>
          <a:xfrm>
            <a:off x="835025" y="541337"/>
            <a:ext cx="8229600"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0000"/>
              </a:buClr>
              <a:buSzPts val="3200"/>
              <a:buFont typeface="Calibri"/>
              <a:buNone/>
            </a:pPr>
            <a:r>
              <a:rPr b="1" i="0" lang="en-US" sz="3200" u="none">
                <a:solidFill>
                  <a:srgbClr val="FF0000"/>
                </a:solidFill>
                <a:latin typeface="Calibri"/>
                <a:ea typeface="Calibri"/>
                <a:cs typeface="Calibri"/>
                <a:sym typeface="Calibri"/>
              </a:rPr>
              <a:t>Addition of Medium Term Scheduling</a:t>
            </a:r>
            <a:endParaRPr/>
          </a:p>
        </p:txBody>
      </p:sp>
      <p:pic>
        <p:nvPicPr>
          <p:cNvPr id="248" name="Google Shape;248;p26"/>
          <p:cNvPicPr preferRelativeResize="0"/>
          <p:nvPr/>
        </p:nvPicPr>
        <p:blipFill rotWithShape="1">
          <a:blip r:embed="rId3">
            <a:alphaModFix/>
          </a:blip>
          <a:srcRect b="0" l="0" r="0" t="0"/>
          <a:stretch/>
        </p:blipFill>
        <p:spPr>
          <a:xfrm>
            <a:off x="315912" y="2827337"/>
            <a:ext cx="8424862" cy="3692525"/>
          </a:xfrm>
          <a:prstGeom prst="rect">
            <a:avLst/>
          </a:prstGeom>
          <a:noFill/>
          <a:ln>
            <a:noFill/>
          </a:ln>
        </p:spPr>
      </p:pic>
      <p:sp>
        <p:nvSpPr>
          <p:cNvPr id="249" name="Google Shape;249;p26"/>
          <p:cNvSpPr txBox="1"/>
          <p:nvPr/>
        </p:nvSpPr>
        <p:spPr>
          <a:xfrm>
            <a:off x="174625" y="1381125"/>
            <a:ext cx="8707437" cy="1446212"/>
          </a:xfrm>
          <a:prstGeom prst="rect">
            <a:avLst/>
          </a:prstGeom>
          <a:noFill/>
          <a:ln>
            <a:noFill/>
          </a:ln>
        </p:spPr>
        <p:txBody>
          <a:bodyPr anchorCtr="0" anchor="t" bIns="32000" lIns="64000" spcFirstLastPara="1" rIns="64000" wrap="square" tIns="32000">
            <a:noAutofit/>
          </a:bodyPr>
          <a:lstStyle/>
          <a:p>
            <a:pPr indent="-488950" lvl="0" marL="488950" marR="0" rtl="0" algn="l">
              <a:lnSpc>
                <a:spcPct val="100000"/>
              </a:lnSpc>
              <a:spcBef>
                <a:spcPts val="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Medium-term scheduler  </a:t>
            </a:r>
            <a:r>
              <a:rPr b="0" i="0" lang="en-US" sz="1800" u="none">
                <a:solidFill>
                  <a:schemeClr val="dk1"/>
                </a:solidFill>
                <a:latin typeface="Helvetica Neue"/>
                <a:ea typeface="Helvetica Neue"/>
                <a:cs typeface="Helvetica Neue"/>
                <a:sym typeface="Helvetica Neue"/>
              </a:rPr>
              <a:t>can be added if degree of multiple programming needs to decrease</a:t>
            </a:r>
            <a:endParaRPr/>
          </a:p>
          <a:p>
            <a:pPr indent="-407987" lvl="1" marL="10604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Remove process from memory, store on disk, bring back in from disk to continue execution: </a:t>
            </a:r>
            <a:r>
              <a:rPr b="1" i="0" lang="en-US" sz="1800" u="none" cap="none" strike="noStrike">
                <a:solidFill>
                  <a:srgbClr val="3366FF"/>
                </a:solidFill>
                <a:latin typeface="Helvetica Neue"/>
                <a:ea typeface="Helvetica Neue"/>
                <a:cs typeface="Helvetica Neue"/>
                <a:sym typeface="Helvetica Neue"/>
              </a:rPr>
              <a:t>swapping</a:t>
            </a:r>
            <a:endParaRPr/>
          </a:p>
          <a:p>
            <a:pPr indent="-386080" lvl="0" marL="48895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846137" y="358775"/>
            <a:ext cx="7886700" cy="533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3000"/>
              <a:buFont typeface="Calibri"/>
              <a:buNone/>
            </a:pPr>
            <a:r>
              <a:rPr b="1" i="0" lang="en-US" sz="3000" u="none">
                <a:solidFill>
                  <a:srgbClr val="FF0000"/>
                </a:solidFill>
                <a:latin typeface="Calibri"/>
                <a:ea typeface="Calibri"/>
                <a:cs typeface="Calibri"/>
                <a:sym typeface="Calibri"/>
              </a:rPr>
              <a:t>Long Term Scheduler(New to ready)</a:t>
            </a:r>
            <a:br>
              <a:rPr b="0" i="0" lang="en-US" sz="3000" u="none">
                <a:solidFill>
                  <a:schemeClr val="dk1"/>
                </a:solidFill>
                <a:latin typeface="Calibri"/>
                <a:ea typeface="Calibri"/>
                <a:cs typeface="Calibri"/>
                <a:sym typeface="Calibri"/>
              </a:rPr>
            </a:br>
            <a:endParaRPr/>
          </a:p>
        </p:txBody>
      </p:sp>
      <p:sp>
        <p:nvSpPr>
          <p:cNvPr id="255" name="Google Shape;255;p27"/>
          <p:cNvSpPr txBox="1"/>
          <p:nvPr>
            <p:ph idx="1" type="body"/>
          </p:nvPr>
        </p:nvSpPr>
        <p:spPr>
          <a:xfrm>
            <a:off x="98425" y="1044575"/>
            <a:ext cx="8893175" cy="5421312"/>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400"/>
              <a:buChar char="•"/>
            </a:pPr>
            <a:r>
              <a:rPr i="0" lang="en-US" sz="2400" u="none">
                <a:solidFill>
                  <a:schemeClr val="dk1"/>
                </a:solidFill>
              </a:rPr>
              <a:t>It is also called a job scheduler.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A long-term scheduler determines which programs are admitted to the system for processing.</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 It selects processes from the queue and loads them into memory for execution.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Process loads into the memory for CPU scheduling.</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The primary objective of the job scheduler is to provide a balanced mix of jobs, such as I/O bound and processor bound.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It also controls the degree of multiprogramming.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If the degree of multiprogramming is stable, then the average rate of process creation must be equal to the average departure rate of processes leaving the system. </a:t>
            </a:r>
            <a:endParaRPr/>
          </a:p>
          <a:p>
            <a:pPr indent="-171450" lvl="0" marL="171450" marR="0" rtl="0" algn="l">
              <a:lnSpc>
                <a:spcPct val="90000"/>
              </a:lnSpc>
              <a:spcBef>
                <a:spcPts val="700"/>
              </a:spcBef>
              <a:spcAft>
                <a:spcPts val="0"/>
              </a:spcAft>
              <a:buClr>
                <a:schemeClr val="dk1"/>
              </a:buClr>
              <a:buSzPts val="2400"/>
              <a:buChar char="•"/>
            </a:pPr>
            <a:r>
              <a:rPr i="0" lang="en-US" sz="2400" u="none">
                <a:solidFill>
                  <a:schemeClr val="dk1"/>
                </a:solidFill>
              </a:rPr>
              <a:t>When a process changes the state from new to ready, then there is use of long-term scheduler.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ph type="title"/>
          </p:nvPr>
        </p:nvSpPr>
        <p:spPr>
          <a:xfrm>
            <a:off x="914400" y="190500"/>
            <a:ext cx="8229600" cy="92392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800"/>
              <a:buFont typeface="Verdana"/>
              <a:buNone/>
            </a:pPr>
            <a:r>
              <a:rPr b="1" i="0" lang="en-US" sz="2800" u="none">
                <a:solidFill>
                  <a:schemeClr val="dk1"/>
                </a:solidFill>
                <a:latin typeface="Verdana"/>
                <a:ea typeface="Verdana"/>
                <a:cs typeface="Verdana"/>
                <a:sym typeface="Verdana"/>
              </a:rPr>
              <a:t>Comparison among Scheduler</a:t>
            </a:r>
            <a:br>
              <a:rPr b="0" i="0" lang="en-US" sz="1100" u="none">
                <a:solidFill>
                  <a:schemeClr val="dk1"/>
                </a:solidFill>
                <a:latin typeface="Verdana"/>
                <a:ea typeface="Verdana"/>
                <a:cs typeface="Verdana"/>
                <a:sym typeface="Verdana"/>
              </a:rPr>
            </a:br>
            <a:endParaRPr/>
          </a:p>
        </p:txBody>
      </p:sp>
      <p:graphicFrame>
        <p:nvGraphicFramePr>
          <p:cNvPr id="261" name="Google Shape;261;p28"/>
          <p:cNvGraphicFramePr/>
          <p:nvPr/>
        </p:nvGraphicFramePr>
        <p:xfrm>
          <a:off x="98425" y="992187"/>
          <a:ext cx="3000000" cy="3000000"/>
        </p:xfrm>
        <a:graphic>
          <a:graphicData uri="http://schemas.openxmlformats.org/drawingml/2006/table">
            <a:tbl>
              <a:tblPr>
                <a:noFill/>
                <a:tableStyleId>{C908ADB7-3FB5-4BC4-961A-DE2B5892779A}</a:tableStyleId>
              </a:tblPr>
              <a:tblGrid>
                <a:gridCol w="2763825"/>
                <a:gridCol w="2933700"/>
                <a:gridCol w="3195625"/>
              </a:tblGrid>
              <a:tr h="566725">
                <a:tc>
                  <a:txBody>
                    <a:bodyPr/>
                    <a:lstStyle/>
                    <a:p>
                      <a:pPr indent="0" lvl="0" marL="0" marR="0" rtl="0" algn="ctr">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Long-Term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Short-Term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Medium-Term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82625">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is a job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is a CPU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is a process swapping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22350">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Speed is lesser than short term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Speed is fastest among other two</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Speed is in between both short and long term scheduler.</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23925">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controls the degree of multiprogramming</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provides lesser control over degree of multiprogramming</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reduces the degree of multiprogramming.</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12825">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is almost absent or minimal in time sharing system</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is also minimal in time sharing system</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is a part of Time sharing systems.</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84275">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selects processes from pool and loads them into memory for execution</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selects those processes which are ready to execute</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It can re-introduce the process into memory and execution can be continued.</a:t>
                      </a:r>
                      <a:endParaRPr/>
                    </a:p>
                  </a:txBody>
                  <a:tcPr marT="32825" marB="32825" marR="65650" marL="656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type="title"/>
          </p:nvPr>
        </p:nvSpPr>
        <p:spPr>
          <a:xfrm>
            <a:off x="819150" y="182562"/>
            <a:ext cx="8229600"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Multitasking in Mobile Systems</a:t>
            </a:r>
            <a:endParaRPr/>
          </a:p>
        </p:txBody>
      </p:sp>
      <p:sp>
        <p:nvSpPr>
          <p:cNvPr id="267" name="Google Shape;267;p29"/>
          <p:cNvSpPr txBox="1"/>
          <p:nvPr>
            <p:ph idx="1" type="body"/>
          </p:nvPr>
        </p:nvSpPr>
        <p:spPr>
          <a:xfrm>
            <a:off x="98425" y="1349375"/>
            <a:ext cx="8850312" cy="5399087"/>
          </a:xfrm>
          <a:prstGeom prst="rect">
            <a:avLst/>
          </a:prstGeom>
          <a:noFill/>
          <a:ln>
            <a:noFill/>
          </a:ln>
        </p:spPr>
        <p:txBody>
          <a:bodyPr anchorCtr="0" anchor="t" bIns="45700" lIns="91425" spcFirstLastPara="1" rIns="91425" wrap="square" tIns="45700">
            <a:normAutofit/>
          </a:bodyPr>
          <a:lstStyle/>
          <a:p>
            <a:pPr indent="-177800" lvl="0" marL="171450" marR="0" rtl="0" algn="l">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Some mobile systems (e.g., early version of iOS)  allow only one process to run, others suspended</a:t>
            </a:r>
            <a:endParaRPr/>
          </a:p>
          <a:p>
            <a:pPr indent="-177800" lvl="0" marL="171450" marR="0" rtl="0" algn="l">
              <a:lnSpc>
                <a:spcPct val="80000"/>
              </a:lnSpc>
              <a:spcBef>
                <a:spcPts val="7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Due to screen real estate, user interface limits iOS provides for a </a:t>
            </a:r>
            <a:endParaRPr/>
          </a:p>
          <a:p>
            <a:pPr indent="-171450" lvl="1" marL="514350" marR="0" rtl="0" algn="l">
              <a:lnSpc>
                <a:spcPct val="8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Single </a:t>
            </a:r>
            <a:r>
              <a:rPr b="1" i="0" lang="en-US" sz="2400" u="none" cap="none" strike="noStrike">
                <a:solidFill>
                  <a:srgbClr val="3366FF"/>
                </a:solidFill>
                <a:latin typeface="Calibri"/>
                <a:ea typeface="Calibri"/>
                <a:cs typeface="Calibri"/>
                <a:sym typeface="Calibri"/>
              </a:rPr>
              <a:t>foreground</a:t>
            </a:r>
            <a:r>
              <a:rPr b="0" i="0" lang="en-US" sz="2400" u="none" cap="none" strike="noStrike">
                <a:solidFill>
                  <a:schemeClr val="dk1"/>
                </a:solidFill>
                <a:latin typeface="Calibri"/>
                <a:ea typeface="Calibri"/>
                <a:cs typeface="Calibri"/>
                <a:sym typeface="Calibri"/>
              </a:rPr>
              <a:t> process- controlled via user interface</a:t>
            </a:r>
            <a:endParaRPr/>
          </a:p>
          <a:p>
            <a:pPr indent="-171450" lvl="1" marL="514350" marR="0" rtl="0" algn="l">
              <a:lnSpc>
                <a:spcPct val="8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Multiple </a:t>
            </a:r>
            <a:r>
              <a:rPr b="1" i="0" lang="en-US" sz="2400" u="none" cap="none" strike="noStrike">
                <a:solidFill>
                  <a:srgbClr val="3366FF"/>
                </a:solidFill>
                <a:latin typeface="Calibri"/>
                <a:ea typeface="Calibri"/>
                <a:cs typeface="Calibri"/>
                <a:sym typeface="Calibri"/>
              </a:rPr>
              <a:t>background</a:t>
            </a:r>
            <a:r>
              <a:rPr b="0" i="0" lang="en-US" sz="2400" u="none" cap="none" strike="noStrike">
                <a:solidFill>
                  <a:schemeClr val="dk1"/>
                </a:solidFill>
                <a:latin typeface="Calibri"/>
                <a:ea typeface="Calibri"/>
                <a:cs typeface="Calibri"/>
                <a:sym typeface="Calibri"/>
              </a:rPr>
              <a:t> processes– in memory, running, but not on the display, and with limits</a:t>
            </a:r>
            <a:endParaRPr/>
          </a:p>
          <a:p>
            <a:pPr indent="-171450" lvl="1" marL="514350" marR="0" rtl="0" algn="l">
              <a:lnSpc>
                <a:spcPct val="8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Limits include single, short task, receiving notification of events, specific long-running tasks like audio playback</a:t>
            </a:r>
            <a:endParaRPr/>
          </a:p>
          <a:p>
            <a:pPr indent="-177800" lvl="0" marL="171450" marR="0" rtl="0" algn="l">
              <a:lnSpc>
                <a:spcPct val="80000"/>
              </a:lnSpc>
              <a:spcBef>
                <a:spcPts val="7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Android runs foreground and background, with fewer limits</a:t>
            </a:r>
            <a:endParaRPr/>
          </a:p>
          <a:p>
            <a:pPr indent="-171450" lvl="1" marL="514350" marR="0" rtl="0" algn="l">
              <a:lnSpc>
                <a:spcPct val="8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Background process uses a </a:t>
            </a:r>
            <a:r>
              <a:rPr b="1" i="0" lang="en-US" sz="2400" u="none" cap="none" strike="noStrike">
                <a:solidFill>
                  <a:srgbClr val="3366FF"/>
                </a:solidFill>
                <a:latin typeface="Calibri"/>
                <a:ea typeface="Calibri"/>
                <a:cs typeface="Calibri"/>
                <a:sym typeface="Calibri"/>
              </a:rPr>
              <a:t>service</a:t>
            </a:r>
            <a:r>
              <a:rPr b="0" i="0" lang="en-US" sz="2400" u="none" cap="none" strike="noStrike">
                <a:solidFill>
                  <a:schemeClr val="dk1"/>
                </a:solidFill>
                <a:latin typeface="Calibri"/>
                <a:ea typeface="Calibri"/>
                <a:cs typeface="Calibri"/>
                <a:sym typeface="Calibri"/>
              </a:rPr>
              <a:t> to perform tasks</a:t>
            </a:r>
            <a:endParaRPr/>
          </a:p>
          <a:p>
            <a:pPr indent="-171450" lvl="1" marL="514350" marR="0" rtl="0" algn="l">
              <a:lnSpc>
                <a:spcPct val="8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Service can keep running even if background process is suspended</a:t>
            </a:r>
            <a:endParaRPr/>
          </a:p>
          <a:p>
            <a:pPr indent="-171450" lvl="1" marL="514350" marR="0" rtl="0" algn="l">
              <a:lnSpc>
                <a:spcPct val="8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Service has no user interface, small memory use</a:t>
            </a:r>
            <a:endParaRPr/>
          </a:p>
          <a:p>
            <a:pPr indent="-57150" lvl="1" marL="514350" marR="0" rtl="0" algn="l">
              <a:lnSpc>
                <a:spcPct val="80000"/>
              </a:lnSpc>
              <a:spcBef>
                <a:spcPts val="3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type="title"/>
          </p:nvPr>
        </p:nvSpPr>
        <p:spPr>
          <a:xfrm>
            <a:off x="457200" y="198437"/>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Operations on Processes</a:t>
            </a:r>
            <a:endParaRPr/>
          </a:p>
        </p:txBody>
      </p:sp>
      <p:sp>
        <p:nvSpPr>
          <p:cNvPr id="273" name="Google Shape;273;p30"/>
          <p:cNvSpPr txBox="1"/>
          <p:nvPr>
            <p:ph idx="1" type="body"/>
          </p:nvPr>
        </p:nvSpPr>
        <p:spPr>
          <a:xfrm>
            <a:off x="831850" y="1778000"/>
            <a:ext cx="7480300" cy="4448175"/>
          </a:xfrm>
          <a:prstGeom prst="rect">
            <a:avLst/>
          </a:prstGeom>
          <a:noFill/>
          <a:ln>
            <a:noFill/>
          </a:ln>
        </p:spPr>
        <p:txBody>
          <a:bodyPr anchorCtr="0" anchor="t" bIns="45700" lIns="91425" spcFirstLastPara="1" rIns="91425" wrap="square" tIns="45700">
            <a:noAutofit/>
          </a:bodyPr>
          <a:lstStyle/>
          <a:p>
            <a:pPr indent="-254000" lvl="0" marL="171450" marR="0" rtl="0" algn="l">
              <a:lnSpc>
                <a:spcPct val="90000"/>
              </a:lnSpc>
              <a:spcBef>
                <a:spcPts val="0"/>
              </a:spcBef>
              <a:spcAft>
                <a:spcPts val="0"/>
              </a:spcAft>
              <a:buClr>
                <a:schemeClr val="dk1"/>
              </a:buClr>
              <a:buSzPts val="4000"/>
              <a:buFont typeface="Arial"/>
              <a:buChar char="•"/>
            </a:pPr>
            <a:r>
              <a:rPr b="0" i="0" lang="en-US" sz="4000" u="none">
                <a:solidFill>
                  <a:schemeClr val="dk1"/>
                </a:solidFill>
                <a:latin typeface="Calibri"/>
                <a:ea typeface="Calibri"/>
                <a:cs typeface="Calibri"/>
                <a:sym typeface="Calibri"/>
              </a:rPr>
              <a:t>System must provide mechanisms for:</a:t>
            </a:r>
            <a:endParaRPr/>
          </a:p>
          <a:p>
            <a:pPr indent="-228600" lvl="1" marL="514350" marR="0" rtl="0" algn="l">
              <a:lnSpc>
                <a:spcPct val="90000"/>
              </a:lnSpc>
              <a:spcBef>
                <a:spcPts val="300"/>
              </a:spcBef>
              <a:spcAft>
                <a:spcPts val="0"/>
              </a:spcAft>
              <a:buClr>
                <a:schemeClr val="dk1"/>
              </a:buClr>
              <a:buSzPts val="3600"/>
              <a:buFont typeface="Arial"/>
              <a:buChar char="•"/>
            </a:pPr>
            <a:r>
              <a:rPr b="0" i="0" lang="en-US" sz="3600" u="none" cap="none" strike="noStrike">
                <a:solidFill>
                  <a:schemeClr val="dk1"/>
                </a:solidFill>
                <a:latin typeface="Calibri"/>
                <a:ea typeface="Calibri"/>
                <a:cs typeface="Calibri"/>
                <a:sym typeface="Calibri"/>
              </a:rPr>
              <a:t> process creation,</a:t>
            </a:r>
            <a:endParaRPr/>
          </a:p>
          <a:p>
            <a:pPr indent="-228600" lvl="1" marL="514350" marR="0" rtl="0" algn="l">
              <a:lnSpc>
                <a:spcPct val="90000"/>
              </a:lnSpc>
              <a:spcBef>
                <a:spcPts val="300"/>
              </a:spcBef>
              <a:spcAft>
                <a:spcPts val="0"/>
              </a:spcAft>
              <a:buClr>
                <a:schemeClr val="dk1"/>
              </a:buClr>
              <a:buSzPts val="3600"/>
              <a:buFont typeface="Arial"/>
              <a:buChar char="•"/>
            </a:pPr>
            <a:r>
              <a:rPr b="0" i="0" lang="en-US" sz="3600" u="none" cap="none" strike="noStrike">
                <a:solidFill>
                  <a:schemeClr val="dk1"/>
                </a:solidFill>
                <a:latin typeface="Calibri"/>
                <a:ea typeface="Calibri"/>
                <a:cs typeface="Calibri"/>
                <a:sym typeface="Calibri"/>
              </a:rPr>
              <a:t> process termination,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type="title"/>
          </p:nvPr>
        </p:nvSpPr>
        <p:spPr>
          <a:xfrm>
            <a:off x="457200" y="198437"/>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Creation</a:t>
            </a:r>
            <a:endParaRPr/>
          </a:p>
        </p:txBody>
      </p:sp>
      <p:sp>
        <p:nvSpPr>
          <p:cNvPr id="279" name="Google Shape;279;p31"/>
          <p:cNvSpPr txBox="1"/>
          <p:nvPr>
            <p:ph idx="1" type="body"/>
          </p:nvPr>
        </p:nvSpPr>
        <p:spPr>
          <a:xfrm>
            <a:off x="87312" y="1169987"/>
            <a:ext cx="9056687" cy="5611812"/>
          </a:xfrm>
          <a:prstGeom prst="rect">
            <a:avLst/>
          </a:prstGeom>
          <a:noFill/>
          <a:ln>
            <a:noFill/>
          </a:ln>
        </p:spPr>
        <p:txBody>
          <a:bodyPr anchorCtr="0" anchor="t" bIns="45700" lIns="91425" spcFirstLastPara="1" rIns="91425" wrap="square" tIns="45700">
            <a:normAutofit/>
          </a:bodyPr>
          <a:lstStyle/>
          <a:p>
            <a:pPr indent="-203200" lvl="0" marL="171450" marR="0" rtl="0" algn="l">
              <a:lnSpc>
                <a:spcPct val="80000"/>
              </a:lnSpc>
              <a:spcBef>
                <a:spcPts val="0"/>
              </a:spcBef>
              <a:spcAft>
                <a:spcPts val="0"/>
              </a:spcAft>
              <a:buClr>
                <a:srgbClr val="3366FF"/>
              </a:buClr>
              <a:buSzPts val="3200"/>
              <a:buFont typeface="Arial"/>
              <a:buChar char="•"/>
            </a:pPr>
            <a:r>
              <a:rPr b="1" i="0" lang="en-US" sz="3200" u="none">
                <a:solidFill>
                  <a:srgbClr val="3366FF"/>
                </a:solidFill>
                <a:latin typeface="Calibri"/>
                <a:ea typeface="Calibri"/>
                <a:cs typeface="Calibri"/>
                <a:sym typeface="Calibri"/>
              </a:rPr>
              <a:t>Parent</a:t>
            </a:r>
            <a:r>
              <a:rPr b="1" i="0" lang="en-US" sz="3200" u="none">
                <a:solidFill>
                  <a:schemeClr val="dk1"/>
                </a:solidFill>
                <a:latin typeface="Calibri"/>
                <a:ea typeface="Calibri"/>
                <a:cs typeface="Calibri"/>
                <a:sym typeface="Calibri"/>
              </a:rPr>
              <a:t> </a:t>
            </a:r>
            <a:r>
              <a:rPr b="0" i="0" lang="en-US" sz="3200" u="none">
                <a:solidFill>
                  <a:schemeClr val="dk1"/>
                </a:solidFill>
                <a:latin typeface="Calibri"/>
                <a:ea typeface="Calibri"/>
                <a:cs typeface="Calibri"/>
                <a:sym typeface="Calibri"/>
              </a:rPr>
              <a:t>process create </a:t>
            </a:r>
            <a:r>
              <a:rPr b="1" i="0" lang="en-US" sz="3200" u="none">
                <a:solidFill>
                  <a:srgbClr val="3366FF"/>
                </a:solidFill>
                <a:latin typeface="Calibri"/>
                <a:ea typeface="Calibri"/>
                <a:cs typeface="Calibri"/>
                <a:sym typeface="Calibri"/>
              </a:rPr>
              <a:t>children</a:t>
            </a:r>
            <a:r>
              <a:rPr b="1" i="0" lang="en-US" sz="3200" u="none">
                <a:solidFill>
                  <a:schemeClr val="dk1"/>
                </a:solidFill>
                <a:latin typeface="Calibri"/>
                <a:ea typeface="Calibri"/>
                <a:cs typeface="Calibri"/>
                <a:sym typeface="Calibri"/>
              </a:rPr>
              <a:t> </a:t>
            </a:r>
            <a:r>
              <a:rPr b="0" i="0" lang="en-US" sz="3200" u="none">
                <a:solidFill>
                  <a:schemeClr val="dk1"/>
                </a:solidFill>
                <a:latin typeface="Calibri"/>
                <a:ea typeface="Calibri"/>
                <a:cs typeface="Calibri"/>
                <a:sym typeface="Calibri"/>
              </a:rPr>
              <a:t>processes, which, in turn create other processes, forming a </a:t>
            </a:r>
            <a:r>
              <a:rPr b="1" i="0" lang="en-US" sz="3200" u="none">
                <a:solidFill>
                  <a:srgbClr val="3366FF"/>
                </a:solidFill>
                <a:latin typeface="Calibri"/>
                <a:ea typeface="Calibri"/>
                <a:cs typeface="Calibri"/>
                <a:sym typeface="Calibri"/>
              </a:rPr>
              <a:t>tree</a:t>
            </a:r>
            <a:r>
              <a:rPr b="0" i="0" lang="en-US" sz="3200" u="none">
                <a:solidFill>
                  <a:schemeClr val="dk1"/>
                </a:solidFill>
                <a:latin typeface="Calibri"/>
                <a:ea typeface="Calibri"/>
                <a:cs typeface="Calibri"/>
                <a:sym typeface="Calibri"/>
              </a:rPr>
              <a:t> of processes</a:t>
            </a:r>
            <a:endParaRPr b="0" i="0" sz="1000" u="none">
              <a:solidFill>
                <a:schemeClr val="dk1"/>
              </a:solidFill>
              <a:latin typeface="Calibri"/>
              <a:ea typeface="Calibri"/>
              <a:cs typeface="Calibri"/>
              <a:sym typeface="Calibri"/>
            </a:endParaRPr>
          </a:p>
          <a:p>
            <a:pPr indent="-203200" lvl="0" marL="171450" marR="0" rtl="0" algn="l">
              <a:lnSpc>
                <a:spcPct val="8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Generally, process identified and managed via a</a:t>
            </a:r>
            <a:r>
              <a:rPr b="1" i="0" lang="en-US" sz="3200" u="none">
                <a:solidFill>
                  <a:schemeClr val="dk1"/>
                </a:solidFill>
                <a:latin typeface="Calibri"/>
                <a:ea typeface="Calibri"/>
                <a:cs typeface="Calibri"/>
                <a:sym typeface="Calibri"/>
              </a:rPr>
              <a:t> </a:t>
            </a:r>
            <a:r>
              <a:rPr b="1" i="0" lang="en-US" sz="3200" u="none">
                <a:solidFill>
                  <a:srgbClr val="3366FF"/>
                </a:solidFill>
                <a:latin typeface="Calibri"/>
                <a:ea typeface="Calibri"/>
                <a:cs typeface="Calibri"/>
                <a:sym typeface="Calibri"/>
              </a:rPr>
              <a:t>process identifier </a:t>
            </a:r>
            <a:r>
              <a:rPr b="0" i="0" lang="en-US" sz="3200" u="none">
                <a:solidFill>
                  <a:schemeClr val="dk1"/>
                </a:solidFill>
                <a:latin typeface="Calibri"/>
                <a:ea typeface="Calibri"/>
                <a:cs typeface="Calibri"/>
                <a:sym typeface="Calibri"/>
              </a:rPr>
              <a:t>(</a:t>
            </a:r>
            <a:r>
              <a:rPr b="1" i="0" lang="en-US" sz="3200" u="none">
                <a:solidFill>
                  <a:srgbClr val="3366FF"/>
                </a:solidFill>
                <a:latin typeface="Calibri"/>
                <a:ea typeface="Calibri"/>
                <a:cs typeface="Calibri"/>
                <a:sym typeface="Calibri"/>
              </a:rPr>
              <a:t>pid</a:t>
            </a:r>
            <a:r>
              <a:rPr b="0" i="0" lang="en-US" sz="3200" u="none">
                <a:solidFill>
                  <a:schemeClr val="dk1"/>
                </a:solidFill>
                <a:latin typeface="Calibri"/>
                <a:ea typeface="Calibri"/>
                <a:cs typeface="Calibri"/>
                <a:sym typeface="Calibri"/>
              </a:rPr>
              <a:t>)</a:t>
            </a:r>
            <a:endParaRPr b="0" i="0" sz="1000" u="none">
              <a:solidFill>
                <a:schemeClr val="dk1"/>
              </a:solidFill>
              <a:latin typeface="Calibri"/>
              <a:ea typeface="Calibri"/>
              <a:cs typeface="Calibri"/>
              <a:sym typeface="Calibri"/>
            </a:endParaRPr>
          </a:p>
          <a:p>
            <a:pPr indent="-203200" lvl="0" marL="171450" marR="0" rtl="0" algn="l">
              <a:lnSpc>
                <a:spcPct val="8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Resource sharing options</a:t>
            </a:r>
            <a:endParaRPr/>
          </a:p>
          <a:p>
            <a:pPr indent="-177800" lvl="1" marL="514350" marR="0" rtl="0" algn="l">
              <a:lnSpc>
                <a:spcPct val="80000"/>
              </a:lnSpc>
              <a:spcBef>
                <a:spcPts val="3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Parent and children share all resources</a:t>
            </a:r>
            <a:endParaRPr/>
          </a:p>
          <a:p>
            <a:pPr indent="-177800" lvl="1" marL="514350" marR="0" rtl="0" algn="l">
              <a:lnSpc>
                <a:spcPct val="80000"/>
              </a:lnSpc>
              <a:spcBef>
                <a:spcPts val="3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Children share subset of parent’s resources</a:t>
            </a:r>
            <a:endParaRPr/>
          </a:p>
          <a:p>
            <a:pPr indent="-177800" lvl="1" marL="514350" marR="0" rtl="0" algn="l">
              <a:lnSpc>
                <a:spcPct val="80000"/>
              </a:lnSpc>
              <a:spcBef>
                <a:spcPts val="3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Parent and child share no resources</a:t>
            </a:r>
            <a:endParaRPr b="0" i="0" sz="1000" u="none" cap="none" strike="noStrike">
              <a:solidFill>
                <a:schemeClr val="dk1"/>
              </a:solidFill>
              <a:latin typeface="Calibri"/>
              <a:ea typeface="Calibri"/>
              <a:cs typeface="Calibri"/>
              <a:sym typeface="Calibri"/>
            </a:endParaRPr>
          </a:p>
          <a:p>
            <a:pPr indent="-203200" lvl="0" marL="171450" marR="0" rtl="0" algn="l">
              <a:lnSpc>
                <a:spcPct val="8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Execution options</a:t>
            </a:r>
            <a:endParaRPr/>
          </a:p>
          <a:p>
            <a:pPr indent="-177800" lvl="1" marL="514350" marR="0" rtl="0" algn="l">
              <a:lnSpc>
                <a:spcPct val="80000"/>
              </a:lnSpc>
              <a:spcBef>
                <a:spcPts val="3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Parent and children execute concurrently</a:t>
            </a:r>
            <a:endParaRPr/>
          </a:p>
          <a:p>
            <a:pPr indent="-177800" lvl="1" marL="514350" marR="0" rtl="0" algn="l">
              <a:lnSpc>
                <a:spcPct val="80000"/>
              </a:lnSpc>
              <a:spcBef>
                <a:spcPts val="3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Parent waits until children terminate</a:t>
            </a:r>
            <a:endParaRPr/>
          </a:p>
          <a:p>
            <a:pPr indent="0" lvl="0" marL="171450" marR="0" rtl="0" algn="l">
              <a:lnSpc>
                <a:spcPct val="90000"/>
              </a:lnSpc>
              <a:spcBef>
                <a:spcPts val="75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2"/>
          <p:cNvSpPr txBox="1"/>
          <p:nvPr>
            <p:ph type="title"/>
          </p:nvPr>
        </p:nvSpPr>
        <p:spPr>
          <a:xfrm>
            <a:off x="3589337" y="212725"/>
            <a:ext cx="2278062" cy="51593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fork() in C</a:t>
            </a:r>
            <a:br>
              <a:rPr b="1" i="0" lang="en-US" sz="3000" u="none">
                <a:solidFill>
                  <a:schemeClr val="dk1"/>
                </a:solidFill>
                <a:latin typeface="Calibri"/>
                <a:ea typeface="Calibri"/>
                <a:cs typeface="Calibri"/>
                <a:sym typeface="Calibri"/>
              </a:rPr>
            </a:br>
            <a:endParaRPr/>
          </a:p>
        </p:txBody>
      </p:sp>
      <p:sp>
        <p:nvSpPr>
          <p:cNvPr id="286" name="Google Shape;286;p32"/>
          <p:cNvSpPr txBox="1"/>
          <p:nvPr>
            <p:ph idx="1" type="body"/>
          </p:nvPr>
        </p:nvSpPr>
        <p:spPr>
          <a:xfrm>
            <a:off x="0" y="728662"/>
            <a:ext cx="9144000" cy="5857875"/>
          </a:xfrm>
          <a:prstGeom prst="rect">
            <a:avLst/>
          </a:prstGeom>
          <a:noFill/>
          <a:ln>
            <a:noFill/>
          </a:ln>
        </p:spPr>
        <p:txBody>
          <a:bodyPr anchorCtr="0" anchor="t" bIns="45700" lIns="91425" spcFirstLastPara="1" rIns="91425" wrap="square" tIns="45700">
            <a:normAutofit/>
          </a:bodyPr>
          <a:lstStyle/>
          <a:p>
            <a:pPr indent="-203200" lvl="0" marL="171450" marR="0" rtl="0" algn="l">
              <a:lnSpc>
                <a:spcPct val="8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Fork system call use for creates a new process, which is called </a:t>
            </a:r>
            <a:r>
              <a:rPr b="1" i="1" lang="en-US" sz="3200" u="none">
                <a:solidFill>
                  <a:schemeClr val="dk1"/>
                </a:solidFill>
                <a:latin typeface="Calibri"/>
                <a:ea typeface="Calibri"/>
                <a:cs typeface="Calibri"/>
                <a:sym typeface="Calibri"/>
              </a:rPr>
              <a:t>child process</a:t>
            </a:r>
            <a:r>
              <a:rPr b="0" i="0" lang="en-US" sz="3200" u="none">
                <a:solidFill>
                  <a:schemeClr val="dk1"/>
                </a:solidFill>
                <a:latin typeface="Calibri"/>
                <a:ea typeface="Calibri"/>
                <a:cs typeface="Calibri"/>
                <a:sym typeface="Calibri"/>
              </a:rPr>
              <a:t>, which runs concurrently with process (which process called system call fork) and this process is called </a:t>
            </a:r>
            <a:r>
              <a:rPr b="1" i="1" lang="en-US" sz="3200" u="none">
                <a:solidFill>
                  <a:schemeClr val="dk1"/>
                </a:solidFill>
                <a:latin typeface="Calibri"/>
                <a:ea typeface="Calibri"/>
                <a:cs typeface="Calibri"/>
                <a:sym typeface="Calibri"/>
              </a:rPr>
              <a:t>parent process</a:t>
            </a:r>
            <a:r>
              <a:rPr b="0" i="0" lang="en-US" sz="3200" u="none">
                <a:solidFill>
                  <a:schemeClr val="dk1"/>
                </a:solidFill>
                <a:latin typeface="Calibri"/>
                <a:ea typeface="Calibri"/>
                <a:cs typeface="Calibri"/>
                <a:sym typeface="Calibri"/>
              </a:rPr>
              <a:t>.</a:t>
            </a:r>
            <a:endParaRPr/>
          </a:p>
          <a:p>
            <a:pPr indent="0" lvl="0" marL="171450" marR="0" rtl="0" algn="l">
              <a:lnSpc>
                <a:spcPct val="80000"/>
              </a:lnSpc>
              <a:spcBef>
                <a:spcPts val="70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203200" lvl="0" marL="171450" marR="0" rtl="0" algn="l">
              <a:lnSpc>
                <a:spcPct val="8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After a new child process created, both processes will execute the next instruction following the fork() system call. </a:t>
            </a:r>
            <a:endParaRPr/>
          </a:p>
          <a:p>
            <a:pPr indent="0" lvl="0" marL="171450" marR="0" rtl="0" algn="l">
              <a:lnSpc>
                <a:spcPct val="80000"/>
              </a:lnSpc>
              <a:spcBef>
                <a:spcPts val="70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203200" lvl="0" marL="171450" marR="0" rtl="0" algn="l">
              <a:lnSpc>
                <a:spcPct val="8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child process use same pc(program counter), same CPU registers, same open files which use in parent process.</a:t>
            </a:r>
            <a:endParaRPr/>
          </a:p>
          <a:p>
            <a:pPr indent="-203200" lvl="0" marL="171450" marR="0" rtl="0" algn="l">
              <a:lnSpc>
                <a:spcPct val="8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It take no parameters and return integer value. </a:t>
            </a:r>
            <a:endParaRPr/>
          </a:p>
          <a:p>
            <a:pPr indent="0" lvl="0" marL="171450" marR="0" rtl="0" algn="l">
              <a:lnSpc>
                <a:spcPct val="90000"/>
              </a:lnSpc>
              <a:spcBef>
                <a:spcPts val="75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3490912" y="136525"/>
            <a:ext cx="2647950" cy="6143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1" i="0" lang="en-US" sz="3600" u="none">
                <a:solidFill>
                  <a:schemeClr val="dk1"/>
                </a:solidFill>
                <a:latin typeface="Calibri"/>
                <a:ea typeface="Calibri"/>
                <a:cs typeface="Calibri"/>
                <a:sym typeface="Calibri"/>
              </a:rPr>
              <a:t>fork() in C</a:t>
            </a:r>
            <a:endParaRPr/>
          </a:p>
        </p:txBody>
      </p:sp>
      <p:sp>
        <p:nvSpPr>
          <p:cNvPr id="292" name="Google Shape;292;p33"/>
          <p:cNvSpPr txBox="1"/>
          <p:nvPr>
            <p:ph idx="1" type="body"/>
          </p:nvPr>
        </p:nvSpPr>
        <p:spPr>
          <a:xfrm>
            <a:off x="0" y="1041400"/>
            <a:ext cx="8882062" cy="4351337"/>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Below are different values returned by fork().</a:t>
            </a:r>
            <a:endParaRPr/>
          </a:p>
          <a:p>
            <a:pPr indent="-177800" lvl="0" marL="171450" marR="0" rtl="0" algn="l">
              <a:lnSpc>
                <a:spcPct val="90000"/>
              </a:lnSpc>
              <a:spcBef>
                <a:spcPts val="700"/>
              </a:spcBef>
              <a:spcAft>
                <a:spcPts val="0"/>
              </a:spcAft>
              <a:buClr>
                <a:schemeClr val="dk1"/>
              </a:buClr>
              <a:buSzPts val="2800"/>
              <a:buFont typeface="Arial"/>
              <a:buChar char="•"/>
            </a:pPr>
            <a:r>
              <a:rPr b="1" i="1" lang="en-US" sz="2800" u="none">
                <a:solidFill>
                  <a:schemeClr val="dk1"/>
                </a:solidFill>
                <a:latin typeface="Calibri"/>
                <a:ea typeface="Calibri"/>
                <a:cs typeface="Calibri"/>
                <a:sym typeface="Calibri"/>
              </a:rPr>
              <a:t>Negative Value</a:t>
            </a:r>
            <a:r>
              <a:rPr b="0" i="0" lang="en-US" sz="2800" u="none">
                <a:solidFill>
                  <a:schemeClr val="dk1"/>
                </a:solidFill>
                <a:latin typeface="Calibri"/>
                <a:ea typeface="Calibri"/>
                <a:cs typeface="Calibri"/>
                <a:sym typeface="Calibri"/>
              </a:rPr>
              <a:t>: creation of a child process was unsuccessful.</a:t>
            </a:r>
            <a:br>
              <a:rPr b="0" i="0" lang="en-US" sz="2800" u="none">
                <a:solidFill>
                  <a:schemeClr val="dk1"/>
                </a:solidFill>
                <a:latin typeface="Calibri"/>
                <a:ea typeface="Calibri"/>
                <a:cs typeface="Calibri"/>
                <a:sym typeface="Calibri"/>
              </a:rPr>
            </a:br>
            <a:r>
              <a:rPr b="1" i="1" lang="en-US" sz="2800" u="none">
                <a:solidFill>
                  <a:schemeClr val="dk1"/>
                </a:solidFill>
                <a:latin typeface="Calibri"/>
                <a:ea typeface="Calibri"/>
                <a:cs typeface="Calibri"/>
                <a:sym typeface="Calibri"/>
              </a:rPr>
              <a:t>Zero</a:t>
            </a:r>
            <a:r>
              <a:rPr b="0" i="0" lang="en-US" sz="2800" u="none">
                <a:solidFill>
                  <a:schemeClr val="dk1"/>
                </a:solidFill>
                <a:latin typeface="Calibri"/>
                <a:ea typeface="Calibri"/>
                <a:cs typeface="Calibri"/>
                <a:sym typeface="Calibri"/>
              </a:rPr>
              <a:t>: Returned to the newly created child process.</a:t>
            </a:r>
            <a:br>
              <a:rPr b="0" i="0" lang="en-US" sz="2800" u="none">
                <a:solidFill>
                  <a:schemeClr val="dk1"/>
                </a:solidFill>
                <a:latin typeface="Calibri"/>
                <a:ea typeface="Calibri"/>
                <a:cs typeface="Calibri"/>
                <a:sym typeface="Calibri"/>
              </a:rPr>
            </a:br>
            <a:r>
              <a:rPr b="1" i="1" lang="en-US" sz="2800" u="none">
                <a:solidFill>
                  <a:schemeClr val="dk1"/>
                </a:solidFill>
                <a:latin typeface="Calibri"/>
                <a:ea typeface="Calibri"/>
                <a:cs typeface="Calibri"/>
                <a:sym typeface="Calibri"/>
              </a:rPr>
              <a:t>Positive value</a:t>
            </a:r>
            <a:r>
              <a:rPr b="0" i="0" lang="en-US" sz="2800" u="none">
                <a:solidFill>
                  <a:schemeClr val="dk1"/>
                </a:solidFill>
                <a:latin typeface="Calibri"/>
                <a:ea typeface="Calibri"/>
                <a:cs typeface="Calibri"/>
                <a:sym typeface="Calibri"/>
              </a:rPr>
              <a:t>: Process id of child process Returned to parent or caller. </a:t>
            </a:r>
            <a:endParaRPr/>
          </a:p>
          <a:p>
            <a:pPr indent="-177800" lvl="0" marL="171450" marR="0" rtl="0" algn="l">
              <a:lnSpc>
                <a:spcPct val="90000"/>
              </a:lnSpc>
              <a:spcBef>
                <a:spcPts val="7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value contains process ID of newly created child process.</a:t>
            </a:r>
            <a:endParaRPr/>
          </a:p>
          <a:p>
            <a:pPr indent="0" lvl="0" marL="171450" marR="0" rtl="0" algn="l">
              <a:lnSpc>
                <a:spcPct val="90000"/>
              </a:lnSpc>
              <a:spcBef>
                <a:spcPts val="75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pic>
        <p:nvPicPr>
          <p:cNvPr id="293" name="Google Shape;293;p33"/>
          <p:cNvPicPr preferRelativeResize="0"/>
          <p:nvPr/>
        </p:nvPicPr>
        <p:blipFill rotWithShape="1">
          <a:blip r:embed="rId3">
            <a:alphaModFix/>
          </a:blip>
          <a:srcRect b="0" l="0" r="0" t="0"/>
          <a:stretch/>
        </p:blipFill>
        <p:spPr>
          <a:xfrm>
            <a:off x="1436687" y="4337050"/>
            <a:ext cx="7054850" cy="24225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idx="1" type="body"/>
          </p:nvPr>
        </p:nvSpPr>
        <p:spPr>
          <a:xfrm>
            <a:off x="273050" y="163512"/>
            <a:ext cx="7978775" cy="6251575"/>
          </a:xfrm>
          <a:prstGeom prst="rect">
            <a:avLst/>
          </a:prstGeom>
          <a:noFill/>
          <a:ln>
            <a:noFill/>
          </a:ln>
        </p:spPr>
        <p:txBody>
          <a:bodyPr anchorCtr="0" anchor="t" bIns="45700" lIns="91425" spcFirstLastPara="1" rIns="91425" wrap="square" tIns="45700">
            <a:normAutofit/>
          </a:bodyPr>
          <a:lstStyle/>
          <a:p>
            <a:pPr indent="0" lvl="0" marL="0" marR="0" rtl="0" algn="l">
              <a:lnSpc>
                <a:spcPct val="70000"/>
              </a:lnSpc>
              <a:spcBef>
                <a:spcPts val="0"/>
              </a:spcBef>
              <a:spcAft>
                <a:spcPts val="0"/>
              </a:spcAft>
              <a:buClr>
                <a:schemeClr val="dk1"/>
              </a:buClr>
              <a:buSzPts val="2000"/>
              <a:buFont typeface="Arial"/>
              <a:buNone/>
            </a:pPr>
            <a:r>
              <a:rPr b="1" i="0" lang="en-US" sz="2000" u="none">
                <a:solidFill>
                  <a:schemeClr val="dk1"/>
                </a:solidFill>
                <a:latin typeface="Calibri"/>
                <a:ea typeface="Calibri"/>
                <a:cs typeface="Calibri"/>
                <a:sym typeface="Calibri"/>
              </a:rPr>
              <a:t>#i</a:t>
            </a:r>
            <a:r>
              <a:rPr b="1" i="0" lang="en-US" sz="2800" u="none">
                <a:solidFill>
                  <a:schemeClr val="dk1"/>
                </a:solidFill>
                <a:latin typeface="Calibri"/>
                <a:ea typeface="Calibri"/>
                <a:cs typeface="Calibri"/>
                <a:sym typeface="Calibri"/>
              </a:rPr>
              <a:t>nclude&lt;stdio.h&gt;</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#include&lt;sys/types.h&gt;</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#include&lt;unistd.h&gt;</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int main() {</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 make two process which run same</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 program after this instruction</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fork();</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printf("Hello world!\n");</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return 0;</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Output:</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Hello world!</a:t>
            </a:r>
            <a:endParaRPr/>
          </a:p>
          <a:p>
            <a:pPr indent="0" lvl="0" marL="0" marR="0" rtl="0" algn="l">
              <a:lnSpc>
                <a:spcPct val="70000"/>
              </a:lnSpc>
              <a:spcBef>
                <a:spcPts val="70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Hello world!</a:t>
            </a:r>
            <a:endParaRPr/>
          </a:p>
          <a:p>
            <a:pPr indent="0" lvl="0" marL="171450" marR="0" rtl="0" algn="l">
              <a:lnSpc>
                <a:spcPct val="90000"/>
              </a:lnSpc>
              <a:spcBef>
                <a:spcPts val="75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5"/>
          <p:cNvSpPr txBox="1"/>
          <p:nvPr>
            <p:ph idx="1" type="body"/>
          </p:nvPr>
        </p:nvSpPr>
        <p:spPr>
          <a:xfrm>
            <a:off x="519112" y="258762"/>
            <a:ext cx="7886700" cy="6337300"/>
          </a:xfrm>
          <a:prstGeom prst="rect">
            <a:avLst/>
          </a:prstGeom>
          <a:noFill/>
          <a:ln>
            <a:noFill/>
          </a:ln>
        </p:spPr>
        <p:txBody>
          <a:bodyPr anchorCtr="0" anchor="t" bIns="45700" lIns="91425" spcFirstLastPara="1" rIns="91425" wrap="square" tIns="45700">
            <a:noAutofit/>
          </a:bodyPr>
          <a:lstStyle/>
          <a:p>
            <a:pPr indent="-203200" lvl="0" marL="171450" marR="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Calculate number of times hello is printed.</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#include  &lt;stdio.h&gt;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#include  &lt;sys/types.h&gt;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int main()</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fork();</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fork();</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fork();</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printf("hello\n");</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return 0;</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t>
            </a:r>
            <a:endParaRPr/>
          </a:p>
          <a:p>
            <a:pPr indent="0" lvl="0" marL="171450" marR="0" rtl="0" algn="l">
              <a:lnSpc>
                <a:spcPct val="90000"/>
              </a:lnSpc>
              <a:spcBef>
                <a:spcPts val="75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6"/>
          <p:cNvSpPr txBox="1"/>
          <p:nvPr>
            <p:ph idx="1" type="body"/>
          </p:nvPr>
        </p:nvSpPr>
        <p:spPr>
          <a:xfrm>
            <a:off x="204787" y="84137"/>
            <a:ext cx="4476750" cy="6773862"/>
          </a:xfrm>
          <a:prstGeom prst="rect">
            <a:avLst/>
          </a:prstGeom>
          <a:noFill/>
          <a:ln>
            <a:noFill/>
          </a:ln>
        </p:spPr>
        <p:txBody>
          <a:bodyPr anchorCtr="0" anchor="t" bIns="45700" lIns="91425" spcFirstLastPara="1" rIns="91425" wrap="square" tIns="45700">
            <a:noAutofit/>
          </a:bodyPr>
          <a:lstStyle/>
          <a:p>
            <a:pPr indent="-203200" lvl="0" marL="171450" marR="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Calculate number of times hello is printed.</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#include  &lt;stdio.h&gt;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#include  &lt;sys/types.h&gt;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int main()</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fork();</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fork();</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fork();</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printf("hello\n");</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return 0;</a:t>
            </a:r>
            <a:endParaRPr/>
          </a:p>
          <a:p>
            <a:pPr indent="-203200" lvl="0" marL="171450" marR="0" rtl="0" algn="l">
              <a:lnSpc>
                <a:spcPct val="90000"/>
              </a:lnSpc>
              <a:spcBef>
                <a:spcPts val="70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t>
            </a:r>
            <a:endParaRPr/>
          </a:p>
          <a:p>
            <a:pPr indent="0" lvl="0" marL="171450" marR="0" rtl="0" algn="l">
              <a:lnSpc>
                <a:spcPct val="90000"/>
              </a:lnSpc>
              <a:spcBef>
                <a:spcPts val="75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309" name="Google Shape;309;p36"/>
          <p:cNvSpPr txBox="1"/>
          <p:nvPr/>
        </p:nvSpPr>
        <p:spPr>
          <a:xfrm>
            <a:off x="5181600" y="261937"/>
            <a:ext cx="3059112" cy="341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Output:</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a:p>
            <a:pPr indent="0" lvl="0" marL="0" marR="0" rtl="0" algn="l">
              <a:lnSpc>
                <a:spcPct val="100000"/>
              </a:lnSpc>
              <a:spcBef>
                <a:spcPts val="0"/>
              </a:spcBef>
              <a:spcAft>
                <a:spcPts val="0"/>
              </a:spcAft>
              <a:buClr>
                <a:schemeClr val="dk1"/>
              </a:buClr>
              <a:buSzPts val="2400"/>
              <a:buFont typeface="Verdana"/>
              <a:buNone/>
            </a:pPr>
            <a:r>
              <a:rPr b="0" i="0" lang="en-US" sz="2400" u="none">
                <a:solidFill>
                  <a:schemeClr val="dk1"/>
                </a:solidFill>
                <a:latin typeface="Verdana"/>
                <a:ea typeface="Verdana"/>
                <a:cs typeface="Verdana"/>
                <a:sym typeface="Verdana"/>
              </a:rPr>
              <a:t>hello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7"/>
          <p:cNvSpPr txBox="1"/>
          <p:nvPr>
            <p:ph idx="1" type="body"/>
          </p:nvPr>
        </p:nvSpPr>
        <p:spPr>
          <a:xfrm>
            <a:off x="225425" y="138112"/>
            <a:ext cx="8689975" cy="6578600"/>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8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Number of times hello printed is equal to number of process created. Total Number of Processes = 2n where n is number of fork system calls. So here n = 3, 23 = 8.</a:t>
            </a:r>
            <a:endParaRPr/>
          </a:p>
          <a:p>
            <a:pPr indent="-171450" lvl="0" marL="171450" marR="0" rtl="0" algn="l">
              <a:lnSpc>
                <a:spcPct val="8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Let us put some label names for the three lines:</a:t>
            </a:r>
            <a:endParaRPr/>
          </a:p>
          <a:p>
            <a:pPr indent="-171450" lvl="0" marL="171450" marR="0" rtl="0" algn="l">
              <a:lnSpc>
                <a:spcPct val="80000"/>
              </a:lnSpc>
              <a:spcBef>
                <a:spcPts val="700"/>
              </a:spcBef>
              <a:spcAft>
                <a:spcPts val="0"/>
              </a:spcAft>
              <a:buClr>
                <a:schemeClr val="dk1"/>
              </a:buClr>
              <a:buSzPts val="2100"/>
              <a:buFont typeface="Arial"/>
              <a:buNone/>
            </a:pPr>
            <a:r>
              <a:rPr b="0" i="0" lang="en-US" sz="2100" u="none">
                <a:solidFill>
                  <a:schemeClr val="dk1"/>
                </a:solidFill>
                <a:latin typeface="Calibri"/>
                <a:ea typeface="Calibri"/>
                <a:cs typeface="Calibri"/>
                <a:sym typeface="Calibri"/>
              </a:rPr>
              <a:t>fork ();   // Line 1</a:t>
            </a:r>
            <a:endParaRPr/>
          </a:p>
          <a:p>
            <a:pPr indent="-171450" lvl="0" marL="171450" marR="0" rtl="0" algn="l">
              <a:lnSpc>
                <a:spcPct val="80000"/>
              </a:lnSpc>
              <a:spcBef>
                <a:spcPts val="700"/>
              </a:spcBef>
              <a:spcAft>
                <a:spcPts val="0"/>
              </a:spcAft>
              <a:buClr>
                <a:schemeClr val="dk1"/>
              </a:buClr>
              <a:buSzPts val="2100"/>
              <a:buFont typeface="Arial"/>
              <a:buNone/>
            </a:pPr>
            <a:r>
              <a:rPr b="0" i="0" lang="en-US" sz="2100" u="none">
                <a:solidFill>
                  <a:schemeClr val="dk1"/>
                </a:solidFill>
                <a:latin typeface="Calibri"/>
                <a:ea typeface="Calibri"/>
                <a:cs typeface="Calibri"/>
                <a:sym typeface="Calibri"/>
              </a:rPr>
              <a:t>fork ();   // Line 2</a:t>
            </a:r>
            <a:endParaRPr/>
          </a:p>
          <a:p>
            <a:pPr indent="-171450" lvl="0" marL="171450" marR="0" rtl="0" algn="l">
              <a:lnSpc>
                <a:spcPct val="80000"/>
              </a:lnSpc>
              <a:spcBef>
                <a:spcPts val="700"/>
              </a:spcBef>
              <a:spcAft>
                <a:spcPts val="0"/>
              </a:spcAft>
              <a:buClr>
                <a:schemeClr val="dk1"/>
              </a:buClr>
              <a:buSzPts val="2100"/>
              <a:buFont typeface="Arial"/>
              <a:buNone/>
            </a:pPr>
            <a:r>
              <a:rPr b="0" i="0" lang="en-US" sz="2100" u="none">
                <a:solidFill>
                  <a:schemeClr val="dk1"/>
                </a:solidFill>
                <a:latin typeface="Calibri"/>
                <a:ea typeface="Calibri"/>
                <a:cs typeface="Calibri"/>
                <a:sym typeface="Calibri"/>
              </a:rPr>
              <a:t>fork ();   // Line 3</a:t>
            </a:r>
            <a:endParaRPr/>
          </a:p>
          <a:p>
            <a:pPr indent="-171450" lvl="0" marL="171450" marR="0" rtl="0" algn="l">
              <a:lnSpc>
                <a:spcPct val="80000"/>
              </a:lnSpc>
              <a:spcBef>
                <a:spcPts val="7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171450" lvl="0" marL="171450" marR="0" rtl="0" algn="l">
              <a:lnSpc>
                <a:spcPct val="80000"/>
              </a:lnSpc>
              <a:spcBef>
                <a:spcPts val="7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L1       // There will be 1 child process </a:t>
            </a:r>
            <a:endParaRPr/>
          </a:p>
          <a:p>
            <a:pPr indent="-171450" lvl="0" marL="171450" marR="0" rtl="0" algn="l">
              <a:lnSpc>
                <a:spcPct val="80000"/>
              </a:lnSpc>
              <a:spcBef>
                <a:spcPts val="7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     // created by line 1.</a:t>
            </a:r>
            <a:endParaRPr/>
          </a:p>
          <a:p>
            <a:pPr indent="-171450" lvl="0" marL="171450" marR="0" rtl="0" algn="l">
              <a:lnSpc>
                <a:spcPct val="80000"/>
              </a:lnSpc>
              <a:spcBef>
                <a:spcPts val="7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L2      L2    // There will be 2 child processes</a:t>
            </a:r>
            <a:endParaRPr/>
          </a:p>
          <a:p>
            <a:pPr indent="-171450" lvl="0" marL="171450" marR="0" rtl="0" algn="l">
              <a:lnSpc>
                <a:spcPct val="80000"/>
              </a:lnSpc>
              <a:spcBef>
                <a:spcPts val="7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    /  \   //  created by line 2</a:t>
            </a:r>
            <a:endParaRPr/>
          </a:p>
          <a:p>
            <a:pPr indent="-171450" lvl="0" marL="171450" marR="0" rtl="0" algn="l">
              <a:lnSpc>
                <a:spcPct val="80000"/>
              </a:lnSpc>
              <a:spcBef>
                <a:spcPts val="7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L3  L3  L3  L3  // There will be 4 child processes </a:t>
            </a:r>
            <a:endParaRPr/>
          </a:p>
          <a:p>
            <a:pPr indent="-171450" lvl="0" marL="171450" marR="0" rtl="0" algn="l">
              <a:lnSpc>
                <a:spcPct val="80000"/>
              </a:lnSpc>
              <a:spcBef>
                <a:spcPts val="7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created by line 3</a:t>
            </a:r>
            <a:endParaRPr b="0" i="0" sz="2100" u="none">
              <a:solidFill>
                <a:schemeClr val="dk1"/>
              </a:solidFill>
              <a:latin typeface="Calibri"/>
              <a:ea typeface="Calibri"/>
              <a:cs typeface="Calibri"/>
              <a:sym typeface="Calibri"/>
            </a:endParaRPr>
          </a:p>
          <a:p>
            <a:pPr indent="-171450" lvl="0" marL="171450" marR="0" rtl="0" algn="l">
              <a:lnSpc>
                <a:spcPct val="8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So there are total eight processes (new child processes and one original process).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type="title"/>
          </p:nvPr>
        </p:nvSpPr>
        <p:spPr>
          <a:xfrm>
            <a:off x="1042987" y="277812"/>
            <a:ext cx="8229600"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A Tree of Processes in Linux</a:t>
            </a:r>
            <a:endParaRPr/>
          </a:p>
        </p:txBody>
      </p:sp>
      <p:pic>
        <p:nvPicPr>
          <p:cNvPr descr="3_08.pdf" id="320" name="Google Shape;320;p38"/>
          <p:cNvPicPr preferRelativeResize="0"/>
          <p:nvPr/>
        </p:nvPicPr>
        <p:blipFill rotWithShape="1">
          <a:blip r:embed="rId3">
            <a:alphaModFix/>
          </a:blip>
          <a:srcRect b="0" l="0" r="0" t="0"/>
          <a:stretch/>
        </p:blipFill>
        <p:spPr>
          <a:xfrm>
            <a:off x="185737" y="1352550"/>
            <a:ext cx="8543925" cy="51673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9"/>
          <p:cNvSpPr txBox="1"/>
          <p:nvPr>
            <p:ph type="title"/>
          </p:nvPr>
        </p:nvSpPr>
        <p:spPr>
          <a:xfrm>
            <a:off x="1069975" y="152400"/>
            <a:ext cx="7616825"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Creation (Cont.)</a:t>
            </a:r>
            <a:endParaRPr/>
          </a:p>
        </p:txBody>
      </p:sp>
      <p:sp>
        <p:nvSpPr>
          <p:cNvPr id="326" name="Google Shape;326;p39"/>
          <p:cNvSpPr txBox="1"/>
          <p:nvPr>
            <p:ph idx="1" type="body"/>
          </p:nvPr>
        </p:nvSpPr>
        <p:spPr>
          <a:xfrm>
            <a:off x="119062" y="1060450"/>
            <a:ext cx="9024937" cy="2955925"/>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chemeClr val="dk1"/>
              </a:buClr>
              <a:buSzPts val="2800"/>
              <a:buFont typeface="Arial"/>
              <a:buChar char="•"/>
            </a:pPr>
            <a:r>
              <a:rPr lang="en-US" sz="2800"/>
              <a:t>After fork(), both parent and child continue execution independently.</a:t>
            </a:r>
            <a:endParaRPr sz="2800"/>
          </a:p>
          <a:p>
            <a:pPr indent="-177800" lvl="0" marL="171450" marR="0" rtl="0" algn="l">
              <a:lnSpc>
                <a:spcPct val="90000"/>
              </a:lnSpc>
              <a:spcBef>
                <a:spcPts val="0"/>
              </a:spcBef>
              <a:spcAft>
                <a:spcPts val="0"/>
              </a:spcAft>
              <a:buClr>
                <a:schemeClr val="dk1"/>
              </a:buClr>
              <a:buSzPts val="2800"/>
              <a:buFont typeface="Arial"/>
              <a:buChar char="•"/>
            </a:pPr>
            <a:r>
              <a:rPr lang="en-US" sz="2800"/>
              <a:t>Use exec() to load a new program in the child.</a:t>
            </a:r>
            <a:endParaRPr sz="2800"/>
          </a:p>
          <a:p>
            <a:pPr indent="-177800" lvl="0" marL="171450" marR="0" rtl="0" algn="l">
              <a:lnSpc>
                <a:spcPct val="90000"/>
              </a:lnSpc>
              <a:spcBef>
                <a:spcPts val="0"/>
              </a:spcBef>
              <a:spcAft>
                <a:spcPts val="0"/>
              </a:spcAft>
              <a:buSzPts val="2800"/>
              <a:buChar char="•"/>
            </a:pPr>
            <a:r>
              <a:rPr lang="en-US" sz="2800"/>
              <a:t>exec()	Replaces current process image with new program</a:t>
            </a:r>
            <a:endParaRPr sz="2800"/>
          </a:p>
          <a:p>
            <a:pPr indent="-177800" lvl="0" marL="171450" marR="0" rtl="0" algn="l">
              <a:lnSpc>
                <a:spcPct val="90000"/>
              </a:lnSpc>
              <a:spcBef>
                <a:spcPts val="0"/>
              </a:spcBef>
              <a:spcAft>
                <a:spcPts val="0"/>
              </a:spcAft>
              <a:buClr>
                <a:schemeClr val="dk1"/>
              </a:buClr>
              <a:buSzPts val="2800"/>
              <a:buFont typeface="Arial"/>
              <a:buChar char="•"/>
            </a:pPr>
            <a:r>
              <a:rPr lang="en-US" sz="2800"/>
              <a:t>Use wait() in the parent to wait for child to finish.</a:t>
            </a:r>
            <a:endParaRPr sz="2800"/>
          </a:p>
          <a:p>
            <a:pPr indent="-177800" lvl="0" marL="171450" marR="0" rtl="0" algn="l">
              <a:lnSpc>
                <a:spcPct val="90000"/>
              </a:lnSpc>
              <a:spcBef>
                <a:spcPts val="0"/>
              </a:spcBef>
              <a:spcAft>
                <a:spcPts val="0"/>
              </a:spcAft>
              <a:buClr>
                <a:schemeClr val="dk1"/>
              </a:buClr>
              <a:buSzPts val="2800"/>
              <a:buFont typeface="Arial"/>
              <a:buChar char="•"/>
            </a:pPr>
            <a:r>
              <a:rPr lang="en-US" sz="2800"/>
              <a:t>Memory is shared using Copy-on-Write, so no actual memory is duplicated until it’s written to.</a:t>
            </a:r>
            <a:endParaRPr sz="2800"/>
          </a:p>
        </p:txBody>
      </p:sp>
      <p:pic>
        <p:nvPicPr>
          <p:cNvPr descr="3" id="327" name="Google Shape;327;p39"/>
          <p:cNvPicPr preferRelativeResize="0"/>
          <p:nvPr/>
        </p:nvPicPr>
        <p:blipFill rotWithShape="1">
          <a:blip r:embed="rId3">
            <a:alphaModFix/>
          </a:blip>
          <a:srcRect b="0" l="0" r="0" t="0"/>
          <a:stretch/>
        </p:blipFill>
        <p:spPr>
          <a:xfrm>
            <a:off x="282575" y="3875087"/>
            <a:ext cx="8697912" cy="285273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0"/>
          <p:cNvSpPr txBox="1"/>
          <p:nvPr>
            <p:ph type="title"/>
          </p:nvPr>
        </p:nvSpPr>
        <p:spPr>
          <a:xfrm>
            <a:off x="474662" y="280987"/>
            <a:ext cx="8229600"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C Program Forking Separate Process</a:t>
            </a:r>
            <a:endParaRPr/>
          </a:p>
        </p:txBody>
      </p:sp>
      <p:pic>
        <p:nvPicPr>
          <p:cNvPr descr="Screen Shot 2012-12-04 at 11.21.10 AM.png" id="333" name="Google Shape;333;p40"/>
          <p:cNvPicPr preferRelativeResize="0"/>
          <p:nvPr/>
        </p:nvPicPr>
        <p:blipFill rotWithShape="1">
          <a:blip r:embed="rId3">
            <a:alphaModFix/>
          </a:blip>
          <a:srcRect b="0" l="0" r="0" t="0"/>
          <a:stretch/>
        </p:blipFill>
        <p:spPr>
          <a:xfrm>
            <a:off x="119062" y="1131887"/>
            <a:ext cx="8905875" cy="54419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75b3b31828_0_0"/>
          <p:cNvSpPr txBox="1"/>
          <p:nvPr>
            <p:ph type="title"/>
          </p:nvPr>
        </p:nvSpPr>
        <p:spPr>
          <a:xfrm>
            <a:off x="628650" y="365125"/>
            <a:ext cx="78867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Example Code</a:t>
            </a:r>
            <a:endParaRPr/>
          </a:p>
        </p:txBody>
      </p:sp>
      <p:sp>
        <p:nvSpPr>
          <p:cNvPr id="340" name="Google Shape;340;g375b3b31828_0_0"/>
          <p:cNvSpPr txBox="1"/>
          <p:nvPr>
            <p:ph idx="1" type="body"/>
          </p:nvPr>
        </p:nvSpPr>
        <p:spPr>
          <a:xfrm>
            <a:off x="628650" y="1825625"/>
            <a:ext cx="7886700" cy="49239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a:t>#include &lt;stdio.h&gt;</a:t>
            </a:r>
            <a:endParaRPr/>
          </a:p>
          <a:p>
            <a:pPr indent="0" lvl="0" marL="0" rtl="0" algn="l">
              <a:lnSpc>
                <a:spcPct val="100000"/>
              </a:lnSpc>
              <a:spcBef>
                <a:spcPts val="0"/>
              </a:spcBef>
              <a:spcAft>
                <a:spcPts val="0"/>
              </a:spcAft>
              <a:buClr>
                <a:schemeClr val="dk1"/>
              </a:buClr>
              <a:buSzPts val="1100"/>
              <a:buFont typeface="Arial"/>
              <a:buNone/>
            </a:pPr>
            <a:r>
              <a:rPr lang="en-US"/>
              <a:t>#include &lt;unistd.h&gt;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int main() {</a:t>
            </a:r>
            <a:endParaRPr/>
          </a:p>
          <a:p>
            <a:pPr indent="0" lvl="0" marL="0" rtl="0" algn="l">
              <a:lnSpc>
                <a:spcPct val="100000"/>
              </a:lnSpc>
              <a:spcBef>
                <a:spcPts val="0"/>
              </a:spcBef>
              <a:spcAft>
                <a:spcPts val="0"/>
              </a:spcAft>
              <a:buClr>
                <a:schemeClr val="dk1"/>
              </a:buClr>
              <a:buSzPts val="1100"/>
              <a:buFont typeface="Arial"/>
              <a:buNone/>
            </a:pPr>
            <a:r>
              <a:rPr lang="en-US"/>
              <a:t>    pid_t pid = fork();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    if (pid &lt; 0) {</a:t>
            </a:r>
            <a:endParaRPr/>
          </a:p>
          <a:p>
            <a:pPr indent="0" lvl="0" marL="0" rtl="0" algn="l">
              <a:lnSpc>
                <a:spcPct val="100000"/>
              </a:lnSpc>
              <a:spcBef>
                <a:spcPts val="0"/>
              </a:spcBef>
              <a:spcAft>
                <a:spcPts val="0"/>
              </a:spcAft>
              <a:buClr>
                <a:schemeClr val="dk1"/>
              </a:buClr>
              <a:buSzPts val="1100"/>
              <a:buFont typeface="Arial"/>
              <a:buNone/>
            </a:pPr>
            <a:r>
              <a:rPr lang="en-US"/>
              <a:t>        perror("Fork failed");</a:t>
            </a:r>
            <a:endParaRPr/>
          </a:p>
          <a:p>
            <a:pPr indent="0" lvl="0" marL="0" rtl="0" algn="l">
              <a:lnSpc>
                <a:spcPct val="100000"/>
              </a:lnSpc>
              <a:spcBef>
                <a:spcPts val="0"/>
              </a:spcBef>
              <a:spcAft>
                <a:spcPts val="0"/>
              </a:spcAft>
              <a:buClr>
                <a:schemeClr val="dk1"/>
              </a:buClr>
              <a:buSzPts val="1100"/>
              <a:buFont typeface="Arial"/>
              <a:buNone/>
            </a:pPr>
            <a:r>
              <a:rPr lang="en-US"/>
              <a:t>    } else if (pid == 0) {</a:t>
            </a:r>
            <a:endParaRPr/>
          </a:p>
          <a:p>
            <a:pPr indent="0" lvl="0" marL="0" rtl="0" algn="l">
              <a:lnSpc>
                <a:spcPct val="100000"/>
              </a:lnSpc>
              <a:spcBef>
                <a:spcPts val="0"/>
              </a:spcBef>
              <a:spcAft>
                <a:spcPts val="0"/>
              </a:spcAft>
              <a:buClr>
                <a:schemeClr val="dk1"/>
              </a:buClr>
              <a:buSzPts val="1100"/>
              <a:buFont typeface="Arial"/>
              <a:buNone/>
            </a:pPr>
            <a:r>
              <a:rPr lang="en-US"/>
              <a:t>        printf("Child Process: PID = %d\n", getpid());</a:t>
            </a:r>
            <a:endParaRPr/>
          </a:p>
          <a:p>
            <a:pPr indent="0" lvl="0" marL="0" rtl="0" algn="l">
              <a:lnSpc>
                <a:spcPct val="100000"/>
              </a:lnSpc>
              <a:spcBef>
                <a:spcPts val="0"/>
              </a:spcBef>
              <a:spcAft>
                <a:spcPts val="0"/>
              </a:spcAft>
              <a:buClr>
                <a:schemeClr val="dk1"/>
              </a:buClr>
              <a:buSzPts val="1100"/>
              <a:buFont typeface="Arial"/>
              <a:buNone/>
            </a:pPr>
            <a:r>
              <a:rPr lang="en-US"/>
              <a:t>    } else {</a:t>
            </a:r>
            <a:endParaRPr/>
          </a:p>
          <a:p>
            <a:pPr indent="0" lvl="0" marL="0" rtl="0" algn="l">
              <a:lnSpc>
                <a:spcPct val="100000"/>
              </a:lnSpc>
              <a:spcBef>
                <a:spcPts val="0"/>
              </a:spcBef>
              <a:spcAft>
                <a:spcPts val="0"/>
              </a:spcAft>
              <a:buClr>
                <a:schemeClr val="dk1"/>
              </a:buClr>
              <a:buSzPts val="1100"/>
              <a:buFont typeface="Arial"/>
              <a:buNone/>
            </a:pPr>
            <a:r>
              <a:rPr lang="en-US"/>
              <a:t>        printf("Parent Process: PID = %d, Child PID = %d\n", getpid(), pid);</a:t>
            </a:r>
            <a:endParaRPr/>
          </a:p>
          <a:p>
            <a:pPr indent="0" lvl="0" marL="0" rtl="0" algn="l">
              <a:lnSpc>
                <a:spcPct val="100000"/>
              </a:lnSpc>
              <a:spcBef>
                <a:spcPts val="0"/>
              </a:spcBef>
              <a:spcAft>
                <a:spcPts val="0"/>
              </a:spcAft>
              <a:buClr>
                <a:schemeClr val="dk1"/>
              </a:buClr>
              <a:buSzPts val="1100"/>
              <a:buFont typeface="Arial"/>
              <a:buNone/>
            </a:pPr>
            <a:r>
              <a:rPr lang="en-US"/>
              <a:t>    }</a:t>
            </a:r>
            <a:endParaRPr/>
          </a:p>
          <a:p>
            <a:pPr indent="0" lvl="0" marL="0" rtl="0" algn="l">
              <a:lnSpc>
                <a:spcPct val="100000"/>
              </a:lnSpc>
              <a:spcBef>
                <a:spcPts val="0"/>
              </a:spcBef>
              <a:spcAft>
                <a:spcPts val="0"/>
              </a:spcAft>
              <a:buClr>
                <a:schemeClr val="dk1"/>
              </a:buClr>
              <a:buSzPts val="1100"/>
              <a:buFont typeface="Arial"/>
              <a:buNone/>
            </a:pPr>
            <a:r>
              <a:rPr lang="en-US"/>
              <a:t>return 0;</a:t>
            </a:r>
            <a:endParaRPr/>
          </a:p>
          <a:p>
            <a:pPr indent="0" lvl="0" marL="0" rtl="0" algn="l">
              <a:lnSpc>
                <a:spcPct val="100000"/>
              </a:lnSpc>
              <a:spcBef>
                <a:spcPts val="0"/>
              </a:spcBef>
              <a:spcAft>
                <a:spcPts val="0"/>
              </a:spcAft>
              <a:buClr>
                <a:schemeClr val="dk1"/>
              </a:buClr>
              <a:buSzPts val="1100"/>
              <a:buFont typeface="Arial"/>
              <a:buNone/>
            </a:pPr>
            <a:r>
              <a:rPr lang="en-US"/>
              <a:t>}</a:t>
            </a:r>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txBox="1"/>
          <p:nvPr>
            <p:ph type="title"/>
          </p:nvPr>
        </p:nvSpPr>
        <p:spPr>
          <a:xfrm>
            <a:off x="457200" y="198437"/>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Termination</a:t>
            </a:r>
            <a:endParaRPr/>
          </a:p>
        </p:txBody>
      </p:sp>
      <p:sp>
        <p:nvSpPr>
          <p:cNvPr id="346" name="Google Shape;346;p41"/>
          <p:cNvSpPr txBox="1"/>
          <p:nvPr>
            <p:ph idx="1" type="body"/>
          </p:nvPr>
        </p:nvSpPr>
        <p:spPr>
          <a:xfrm>
            <a:off x="163512" y="1233487"/>
            <a:ext cx="8816975" cy="5483225"/>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Process executes last statement and then asks the operating system to delete it using the </a:t>
            </a:r>
            <a:r>
              <a:rPr b="1" i="0" lang="en-US" sz="2800" u="none">
                <a:solidFill>
                  <a:srgbClr val="000000"/>
                </a:solidFill>
                <a:latin typeface="Courier New"/>
                <a:ea typeface="Courier New"/>
                <a:cs typeface="Courier New"/>
                <a:sym typeface="Courier New"/>
              </a:rPr>
              <a:t>exit()</a:t>
            </a:r>
            <a:r>
              <a:rPr b="0" i="0" lang="en-US" sz="2800" u="none">
                <a:solidFill>
                  <a:schemeClr val="dk1"/>
                </a:solidFill>
                <a:latin typeface="Calibri"/>
                <a:ea typeface="Calibri"/>
                <a:cs typeface="Calibri"/>
                <a:sym typeface="Calibri"/>
              </a:rPr>
              <a:t> system call.</a:t>
            </a:r>
            <a:endParaRPr b="0" i="0" sz="2800" u="none">
              <a:solidFill>
                <a:schemeClr val="dk1"/>
              </a:solidFill>
              <a:latin typeface="Calibri"/>
              <a:ea typeface="Calibri"/>
              <a:cs typeface="Calibri"/>
              <a:sym typeface="Calibri"/>
            </a:endParaRPr>
          </a:p>
          <a:p>
            <a:pPr indent="-171450" lvl="1" marL="514350" marR="0" rtl="0" algn="l">
              <a:lnSpc>
                <a:spcPct val="9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Returns  status data from child to parent (via </a:t>
            </a:r>
            <a:r>
              <a:rPr b="1" i="0" lang="en-US" sz="2400" u="none" cap="none" strike="noStrike">
                <a:solidFill>
                  <a:srgbClr val="000000"/>
                </a:solidFill>
                <a:latin typeface="Courier New"/>
                <a:ea typeface="Courier New"/>
                <a:cs typeface="Courier New"/>
                <a:sym typeface="Courier New"/>
              </a:rPr>
              <a:t>wait()</a:t>
            </a:r>
            <a:r>
              <a:rPr b="0" i="0" lang="en-US" sz="2400" u="none" cap="none" strike="noStrike">
                <a:solidFill>
                  <a:schemeClr val="dk1"/>
                </a:solidFill>
                <a:latin typeface="Calibri"/>
                <a:ea typeface="Calibri"/>
                <a:cs typeface="Calibri"/>
                <a:sym typeface="Calibri"/>
              </a:rPr>
              <a:t>)</a:t>
            </a:r>
            <a:endParaRPr/>
          </a:p>
          <a:p>
            <a:pPr indent="-171450" lvl="1" marL="514350" marR="0" rtl="0" algn="l">
              <a:lnSpc>
                <a:spcPct val="9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Process’ resources are de-allocated by operating system</a:t>
            </a:r>
            <a:endParaRPr b="0" i="0" sz="2400" u="none" cap="none" strike="noStrike">
              <a:solidFill>
                <a:schemeClr val="dk1"/>
              </a:solidFill>
              <a:latin typeface="Calibri"/>
              <a:ea typeface="Calibri"/>
              <a:cs typeface="Calibri"/>
              <a:sym typeface="Calibri"/>
            </a:endParaRPr>
          </a:p>
          <a:p>
            <a:pPr indent="-177800" lvl="0" marL="171450" marR="0" rtl="0" algn="l">
              <a:lnSpc>
                <a:spcPct val="90000"/>
              </a:lnSpc>
              <a:spcBef>
                <a:spcPts val="7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Parent may terminate the execution of children processes  using the </a:t>
            </a:r>
            <a:r>
              <a:rPr b="1" i="0" lang="en-US" sz="2800" u="none">
                <a:solidFill>
                  <a:srgbClr val="000000"/>
                </a:solidFill>
                <a:latin typeface="Courier New"/>
                <a:ea typeface="Courier New"/>
                <a:cs typeface="Courier New"/>
                <a:sym typeface="Courier New"/>
              </a:rPr>
              <a:t>abort()</a:t>
            </a:r>
            <a:r>
              <a:rPr b="0" i="0" lang="en-US" sz="2800" u="none">
                <a:solidFill>
                  <a:schemeClr val="dk1"/>
                </a:solidFill>
                <a:latin typeface="Calibri"/>
                <a:ea typeface="Calibri"/>
                <a:cs typeface="Calibri"/>
                <a:sym typeface="Calibri"/>
              </a:rPr>
              <a:t> system call.  Some reasons for doing so:</a:t>
            </a:r>
            <a:endParaRPr b="0" i="0" sz="2800" u="none">
              <a:solidFill>
                <a:schemeClr val="dk1"/>
              </a:solidFill>
              <a:latin typeface="Calibri"/>
              <a:ea typeface="Calibri"/>
              <a:cs typeface="Calibri"/>
              <a:sym typeface="Calibri"/>
            </a:endParaRPr>
          </a:p>
          <a:p>
            <a:pPr indent="-171450" lvl="1" marL="514350" marR="0" rtl="0" algn="l">
              <a:lnSpc>
                <a:spcPct val="9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Child has exceeded allocated resources</a:t>
            </a:r>
            <a:endParaRPr/>
          </a:p>
          <a:p>
            <a:pPr indent="-171450" lvl="1" marL="514350" marR="0" rtl="0" algn="l">
              <a:lnSpc>
                <a:spcPct val="9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Task assigned to child is no longer required</a:t>
            </a:r>
            <a:endParaRPr/>
          </a:p>
          <a:p>
            <a:pPr indent="-171450" lvl="1" marL="514350" marR="0" rtl="0" algn="l">
              <a:lnSpc>
                <a:spcPct val="90000"/>
              </a:lnSpc>
              <a:spcBef>
                <a:spcPts val="3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parent is exiting and the operating systems does not allow  a child to continue if its parent terminates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type="title"/>
          </p:nvPr>
        </p:nvSpPr>
        <p:spPr>
          <a:xfrm>
            <a:off x="457200" y="182562"/>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Process Termination</a:t>
            </a:r>
            <a:endParaRPr/>
          </a:p>
        </p:txBody>
      </p:sp>
      <p:sp>
        <p:nvSpPr>
          <p:cNvPr id="352" name="Google Shape;352;p42"/>
          <p:cNvSpPr txBox="1"/>
          <p:nvPr>
            <p:ph idx="1" type="body"/>
          </p:nvPr>
        </p:nvSpPr>
        <p:spPr>
          <a:xfrm>
            <a:off x="130175" y="758825"/>
            <a:ext cx="9013825" cy="5619750"/>
          </a:xfrm>
          <a:prstGeom prst="rect">
            <a:avLst/>
          </a:prstGeom>
          <a:noFill/>
          <a:ln>
            <a:noFill/>
          </a:ln>
        </p:spPr>
        <p:txBody>
          <a:bodyPr anchorCtr="0" anchor="t" bIns="45700" lIns="91425" spcFirstLastPara="1" rIns="91425" wrap="square" tIns="45700">
            <a:noAutofit/>
          </a:bodyPr>
          <a:lstStyle/>
          <a:p>
            <a:pPr indent="-114300" lvl="1" marL="514350" marR="0" rtl="0" algn="l">
              <a:lnSpc>
                <a:spcPct val="90000"/>
              </a:lnSpc>
              <a:spcBef>
                <a:spcPts val="0"/>
              </a:spcBef>
              <a:spcAft>
                <a:spcPts val="0"/>
              </a:spcAft>
              <a:buClr>
                <a:schemeClr val="dk1"/>
              </a:buClr>
              <a:buSzPts val="900"/>
              <a:buFont typeface="Arial"/>
              <a:buNone/>
            </a:pPr>
            <a:r>
              <a:t/>
            </a:r>
            <a:endParaRPr b="0" i="0" sz="900" u="none" cap="none" strike="noStrike">
              <a:solidFill>
                <a:schemeClr val="dk1"/>
              </a:solidFill>
              <a:latin typeface="Calibri"/>
              <a:ea typeface="Calibri"/>
              <a:cs typeface="Calibri"/>
              <a:sym typeface="Calibri"/>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Some operating systems do not allow child to exists if its parent has terminated.  If a process terminates, then all its children must also be terminated.</a:t>
            </a:r>
            <a:endParaRPr/>
          </a:p>
          <a:p>
            <a:pPr indent="-171450" lvl="1" marL="514350" marR="0" rtl="0" algn="l">
              <a:lnSpc>
                <a:spcPct val="90000"/>
              </a:lnSpc>
              <a:spcBef>
                <a:spcPts val="30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cascading termination.  </a:t>
            </a:r>
            <a:r>
              <a:rPr b="0" i="0" lang="en-US" sz="2000" u="none" cap="none" strike="noStrike">
                <a:solidFill>
                  <a:schemeClr val="dk1"/>
                </a:solidFill>
                <a:latin typeface="Calibri"/>
                <a:ea typeface="Calibri"/>
                <a:cs typeface="Calibri"/>
                <a:sym typeface="Calibri"/>
              </a:rPr>
              <a:t>All children, grandchildren, etc.  are  terminated.</a:t>
            </a:r>
            <a:endParaRPr b="1" i="0" sz="2000" u="none" cap="none" strike="noStrike">
              <a:solidFill>
                <a:schemeClr val="dk1"/>
              </a:solidFill>
              <a:latin typeface="Calibri"/>
              <a:ea typeface="Calibri"/>
              <a:cs typeface="Calibri"/>
              <a:sym typeface="Calibri"/>
            </a:endParaRPr>
          </a:p>
          <a:p>
            <a:pPr indent="-171450" lvl="1" marL="514350" marR="0" rtl="0" algn="l">
              <a:lnSpc>
                <a:spcPct val="90000"/>
              </a:lnSpc>
              <a:spcBef>
                <a:spcPts val="3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 termination is initiated by the operating system.</a:t>
            </a:r>
            <a:endParaRPr b="1" i="0" sz="2000" u="none" cap="none" strike="noStrike">
              <a:solidFill>
                <a:schemeClr val="dk1"/>
              </a:solidFill>
              <a:latin typeface="Calibri"/>
              <a:ea typeface="Calibri"/>
              <a:cs typeface="Calibri"/>
              <a:sym typeface="Calibri"/>
            </a:endParaRPr>
          </a:p>
          <a:p>
            <a:pPr indent="-171450" lvl="0" marL="171450" marR="0" rtl="0" algn="l">
              <a:lnSpc>
                <a:spcPct val="90000"/>
              </a:lnSpc>
              <a:spcBef>
                <a:spcPts val="7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parent process may wait for termination of a child process by using the </a:t>
            </a:r>
            <a:r>
              <a:rPr b="1" i="0" lang="en-US" sz="2400" u="none">
                <a:solidFill>
                  <a:srgbClr val="000000"/>
                </a:solidFill>
                <a:latin typeface="Courier New"/>
                <a:ea typeface="Courier New"/>
                <a:cs typeface="Courier New"/>
                <a:sym typeface="Courier New"/>
              </a:rPr>
              <a:t>wait()</a:t>
            </a:r>
            <a:r>
              <a:rPr b="0" i="0" lang="en-US" sz="2400" u="none">
                <a:solidFill>
                  <a:schemeClr val="dk1"/>
                </a:solidFill>
                <a:latin typeface="Calibri"/>
                <a:ea typeface="Calibri"/>
                <a:cs typeface="Calibri"/>
                <a:sym typeface="Calibri"/>
              </a:rPr>
              <a:t>system call</a:t>
            </a:r>
            <a:r>
              <a:rPr b="1" i="0" lang="en-US" sz="2400" u="none">
                <a:solidFill>
                  <a:srgbClr val="000000"/>
                </a:solidFill>
                <a:latin typeface="Courier New"/>
                <a:ea typeface="Courier New"/>
                <a:cs typeface="Courier New"/>
                <a:sym typeface="Courier New"/>
              </a:rPr>
              <a:t>. </a:t>
            </a:r>
            <a:r>
              <a:rPr b="0" i="0" lang="en-US" sz="2400" u="none">
                <a:solidFill>
                  <a:schemeClr val="dk1"/>
                </a:solidFill>
                <a:latin typeface="Calibri"/>
                <a:ea typeface="Calibri"/>
                <a:cs typeface="Calibri"/>
                <a:sym typeface="Calibri"/>
              </a:rPr>
              <a:t>The call returns status information and the pid of the terminated process</a:t>
            </a:r>
            <a:endParaRPr b="1" i="0" sz="2400" u="none">
              <a:solidFill>
                <a:srgbClr val="000000"/>
              </a:solidFill>
              <a:latin typeface="Courier New"/>
              <a:ea typeface="Courier New"/>
              <a:cs typeface="Courier New"/>
              <a:sym typeface="Courier New"/>
            </a:endParaRPr>
          </a:p>
          <a:p>
            <a:pPr indent="-171450" lvl="0" marL="171450" marR="0" rtl="0" algn="l">
              <a:lnSpc>
                <a:spcPct val="90000"/>
              </a:lnSpc>
              <a:spcBef>
                <a:spcPts val="700"/>
              </a:spcBef>
              <a:spcAft>
                <a:spcPts val="0"/>
              </a:spcAft>
              <a:buClr>
                <a:srgbClr val="000000"/>
              </a:buClr>
              <a:buSzPts val="2400"/>
              <a:buFont typeface="Arial"/>
              <a:buNone/>
            </a:pPr>
            <a:r>
              <a:rPr b="1" i="0" lang="en-US" sz="2400" u="none">
                <a:solidFill>
                  <a:srgbClr val="000000"/>
                </a:solidFill>
                <a:latin typeface="Courier New"/>
                <a:ea typeface="Courier New"/>
                <a:cs typeface="Courier New"/>
                <a:sym typeface="Courier New"/>
              </a:rPr>
              <a:t>      pid = wait(&amp;status); </a:t>
            </a:r>
            <a:endParaRPr/>
          </a:p>
          <a:p>
            <a:pPr indent="0" lvl="0" marL="171450" marR="0" rtl="0" algn="l">
              <a:lnSpc>
                <a:spcPct val="90000"/>
              </a:lnSpc>
              <a:spcBef>
                <a:spcPts val="70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3"/>
          <p:cNvSpPr txBox="1"/>
          <p:nvPr>
            <p:ph type="title"/>
          </p:nvPr>
        </p:nvSpPr>
        <p:spPr>
          <a:xfrm>
            <a:off x="1225550" y="150812"/>
            <a:ext cx="7997825" cy="5762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Calibri"/>
              <a:buNone/>
            </a:pPr>
            <a:r>
              <a:rPr b="1" lang="en-US" sz="2800"/>
              <a:t>Multi Process</a:t>
            </a:r>
            <a:r>
              <a:rPr b="1" i="0" lang="en-US" sz="2800" u="none">
                <a:solidFill>
                  <a:schemeClr val="dk1"/>
                </a:solidFill>
                <a:latin typeface="Calibri"/>
                <a:ea typeface="Calibri"/>
                <a:cs typeface="Calibri"/>
                <a:sym typeface="Calibri"/>
              </a:rPr>
              <a:t> Architecture – Chrome Browser</a:t>
            </a:r>
            <a:endParaRPr/>
          </a:p>
        </p:txBody>
      </p:sp>
      <p:sp>
        <p:nvSpPr>
          <p:cNvPr id="358" name="Google Shape;358;p43"/>
          <p:cNvSpPr txBox="1"/>
          <p:nvPr>
            <p:ph idx="1" type="body"/>
          </p:nvPr>
        </p:nvSpPr>
        <p:spPr>
          <a:xfrm>
            <a:off x="185737" y="1233487"/>
            <a:ext cx="8958262" cy="3895725"/>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Many web browsers ran as single process (some still do)</a:t>
            </a:r>
            <a:endParaRPr/>
          </a:p>
          <a:p>
            <a:pPr indent="-171450" lvl="1" marL="514350" marR="0" rtl="0" algn="l">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If one </a:t>
            </a:r>
            <a:r>
              <a:rPr lang="en-US"/>
              <a:t>website</a:t>
            </a:r>
            <a:r>
              <a:rPr b="0" i="0" lang="en-US" sz="1800" u="none" cap="none" strike="noStrike">
                <a:solidFill>
                  <a:schemeClr val="dk1"/>
                </a:solidFill>
                <a:latin typeface="Calibri"/>
                <a:ea typeface="Calibri"/>
                <a:cs typeface="Calibri"/>
                <a:sym typeface="Calibri"/>
              </a:rPr>
              <a:t> causes trouble, entire browser can hang or crash</a:t>
            </a:r>
            <a:endParaRPr/>
          </a:p>
          <a:p>
            <a:pPr indent="-171450" lvl="0" marL="171450" marR="0" rtl="0" algn="l">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Google Chrome Browser is multiprocess with 3 different types of processes: </a:t>
            </a:r>
            <a:endParaRPr/>
          </a:p>
          <a:p>
            <a:pPr indent="-171450" lvl="1" marL="514350" marR="0" rtl="0" algn="l">
              <a:lnSpc>
                <a:spcPct val="90000"/>
              </a:lnSpc>
              <a:spcBef>
                <a:spcPts val="300"/>
              </a:spcBef>
              <a:spcAft>
                <a:spcPts val="0"/>
              </a:spcAft>
              <a:buClr>
                <a:srgbClr val="3366FF"/>
              </a:buClr>
              <a:buSzPts val="1800"/>
              <a:buFont typeface="Arial"/>
              <a:buChar char="•"/>
            </a:pPr>
            <a:r>
              <a:rPr b="1" i="0" lang="en-US" sz="1800" u="none" cap="none" strike="noStrike">
                <a:solidFill>
                  <a:srgbClr val="3366FF"/>
                </a:solidFill>
                <a:latin typeface="Calibri"/>
                <a:ea typeface="Calibri"/>
                <a:cs typeface="Calibri"/>
                <a:sym typeface="Calibri"/>
              </a:rPr>
              <a:t>Browser</a:t>
            </a:r>
            <a:r>
              <a:rPr b="0" i="0" lang="en-US" sz="1800" u="none" cap="none" strike="noStrike">
                <a:solidFill>
                  <a:schemeClr val="dk1"/>
                </a:solidFill>
                <a:latin typeface="Calibri"/>
                <a:ea typeface="Calibri"/>
                <a:cs typeface="Calibri"/>
                <a:sym typeface="Calibri"/>
              </a:rPr>
              <a:t> process manages user interface, disk and network I/O</a:t>
            </a:r>
            <a:endParaRPr/>
          </a:p>
          <a:p>
            <a:pPr indent="-171450" lvl="1" marL="514350" marR="0" rtl="0" algn="l">
              <a:lnSpc>
                <a:spcPct val="90000"/>
              </a:lnSpc>
              <a:spcBef>
                <a:spcPts val="300"/>
              </a:spcBef>
              <a:spcAft>
                <a:spcPts val="0"/>
              </a:spcAft>
              <a:buClr>
                <a:srgbClr val="3366FF"/>
              </a:buClr>
              <a:buSzPts val="1800"/>
              <a:buFont typeface="Arial"/>
              <a:buChar char="•"/>
            </a:pPr>
            <a:r>
              <a:rPr b="1" i="0" lang="en-US" sz="1800" u="none" cap="none" strike="noStrike">
                <a:solidFill>
                  <a:srgbClr val="3366FF"/>
                </a:solidFill>
                <a:latin typeface="Calibri"/>
                <a:ea typeface="Calibri"/>
                <a:cs typeface="Calibri"/>
                <a:sym typeface="Calibri"/>
              </a:rPr>
              <a:t>Renderer</a:t>
            </a:r>
            <a:r>
              <a:rPr b="0" i="0" lang="en-US" sz="1800" u="none" cap="none" strike="noStrike">
                <a:solidFill>
                  <a:schemeClr val="dk1"/>
                </a:solidFill>
                <a:latin typeface="Calibri"/>
                <a:ea typeface="Calibri"/>
                <a:cs typeface="Calibri"/>
                <a:sym typeface="Calibri"/>
              </a:rPr>
              <a:t> process renders web pages, deals with HTML, Javascript. A new renderer created for each website opened</a:t>
            </a:r>
            <a:endParaRPr/>
          </a:p>
          <a:p>
            <a:pPr indent="-171450" lvl="2" marL="857250" marR="0" rtl="0" algn="l">
              <a:lnSpc>
                <a:spcPct val="90000"/>
              </a:lnSpc>
              <a:spcBef>
                <a:spcPts val="3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Runs in </a:t>
            </a:r>
            <a:r>
              <a:rPr b="1" i="0" lang="en-US" sz="1500" u="none" cap="none" strike="noStrike">
                <a:solidFill>
                  <a:srgbClr val="3366FF"/>
                </a:solidFill>
                <a:latin typeface="Calibri"/>
                <a:ea typeface="Calibri"/>
                <a:cs typeface="Calibri"/>
                <a:sym typeface="Calibri"/>
              </a:rPr>
              <a:t>sandbox</a:t>
            </a:r>
            <a:r>
              <a:rPr b="0" i="0" lang="en-US" sz="1500" u="none" cap="none" strike="noStrike">
                <a:solidFill>
                  <a:schemeClr val="dk1"/>
                </a:solidFill>
                <a:latin typeface="Calibri"/>
                <a:ea typeface="Calibri"/>
                <a:cs typeface="Calibri"/>
                <a:sym typeface="Calibri"/>
              </a:rPr>
              <a:t> restricting disk and network I/O, minimizing effect of security exploits</a:t>
            </a:r>
            <a:endParaRPr/>
          </a:p>
          <a:p>
            <a:pPr indent="-171450" lvl="1" marL="514350" marR="0" rtl="0" algn="l">
              <a:lnSpc>
                <a:spcPct val="90000"/>
              </a:lnSpc>
              <a:spcBef>
                <a:spcPts val="300"/>
              </a:spcBef>
              <a:spcAft>
                <a:spcPts val="0"/>
              </a:spcAft>
              <a:buClr>
                <a:srgbClr val="3366FF"/>
              </a:buClr>
              <a:buSzPts val="1800"/>
              <a:buFont typeface="Arial"/>
              <a:buChar char="•"/>
            </a:pPr>
            <a:r>
              <a:rPr b="1" i="0" lang="en-US" sz="1800" u="none" cap="none" strike="noStrike">
                <a:solidFill>
                  <a:srgbClr val="3366FF"/>
                </a:solidFill>
                <a:latin typeface="Calibri"/>
                <a:ea typeface="Calibri"/>
                <a:cs typeface="Calibri"/>
                <a:sym typeface="Calibri"/>
              </a:rPr>
              <a:t>Plug-in </a:t>
            </a:r>
            <a:r>
              <a:rPr b="0" i="0" lang="en-US" sz="1800" u="none" cap="none" strike="noStrike">
                <a:solidFill>
                  <a:schemeClr val="dk1"/>
                </a:solidFill>
                <a:latin typeface="Calibri"/>
                <a:ea typeface="Calibri"/>
                <a:cs typeface="Calibri"/>
                <a:sym typeface="Calibri"/>
              </a:rPr>
              <a:t>process for each type of plug-in</a:t>
            </a:r>
            <a:endParaRPr/>
          </a:p>
          <a:p>
            <a:pPr indent="-57150" lvl="1" marL="514350" marR="0" rtl="0" algn="l">
              <a:lnSpc>
                <a:spcPct val="90000"/>
              </a:lnSpc>
              <a:spcBef>
                <a:spcPts val="3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57150" lvl="1" marL="514350" marR="0" rtl="0" algn="l">
              <a:lnSpc>
                <a:spcPct val="90000"/>
              </a:lnSpc>
              <a:spcBef>
                <a:spcPts val="3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n-3_2.pdf" id="359" name="Google Shape;359;p43"/>
          <p:cNvPicPr preferRelativeResize="0"/>
          <p:nvPr/>
        </p:nvPicPr>
        <p:blipFill rotWithShape="1">
          <a:blip r:embed="rId3">
            <a:alphaModFix/>
          </a:blip>
          <a:srcRect b="0" l="0" r="0" t="0"/>
          <a:stretch/>
        </p:blipFill>
        <p:spPr>
          <a:xfrm>
            <a:off x="138112" y="4116387"/>
            <a:ext cx="8937625" cy="24479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4"/>
          <p:cNvSpPr txBox="1"/>
          <p:nvPr>
            <p:ph type="title"/>
          </p:nvPr>
        </p:nvSpPr>
        <p:spPr>
          <a:xfrm>
            <a:off x="1817687" y="327025"/>
            <a:ext cx="5988050" cy="762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Think-Ink-Solve Activity</a:t>
            </a:r>
            <a:endParaRPr/>
          </a:p>
        </p:txBody>
      </p:sp>
      <p:graphicFrame>
        <p:nvGraphicFramePr>
          <p:cNvPr id="365" name="Google Shape;365;p44"/>
          <p:cNvGraphicFramePr/>
          <p:nvPr/>
        </p:nvGraphicFramePr>
        <p:xfrm>
          <a:off x="322262" y="1023937"/>
          <a:ext cx="3000000" cy="3000000"/>
        </p:xfrm>
        <a:graphic>
          <a:graphicData uri="http://schemas.openxmlformats.org/drawingml/2006/table">
            <a:tbl>
              <a:tblPr>
                <a:noFill/>
                <a:tableStyleId>{C908ADB7-3FB5-4BC4-961A-DE2B5892779A}</a:tableStyleId>
              </a:tblPr>
              <a:tblGrid>
                <a:gridCol w="657225"/>
                <a:gridCol w="2432050"/>
                <a:gridCol w="1493825"/>
                <a:gridCol w="4397375"/>
              </a:tblGrid>
              <a:tr h="1214425">
                <a:tc>
                  <a:txBody>
                    <a:bodyPr/>
                    <a:lstStyle/>
                    <a:p>
                      <a:pPr indent="0" lvl="0" marL="0" marR="0" rtl="0" algn="ctr">
                        <a:lnSpc>
                          <a:spcPct val="100000"/>
                        </a:lnSpc>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Group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Topic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Number Of Students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Task</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1554150">
                <a:tc>
                  <a:txBody>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a:txBody>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Process and Process in Memory, Interrupts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rowSpan="5">
                  <a:txBody>
                    <a:bodyPr/>
                    <a:lstStyle/>
                    <a:p>
                      <a:pPr indent="-342900" lvl="0" marL="342900" marR="0" rtl="0" algn="l">
                        <a:lnSpc>
                          <a:spcPct val="100000"/>
                        </a:lnSpc>
                        <a:spcBef>
                          <a:spcPts val="0"/>
                        </a:spcBef>
                        <a:spcAft>
                          <a:spcPts val="0"/>
                        </a:spcAft>
                        <a:buClr>
                          <a:srgbClr val="000000"/>
                        </a:buClr>
                        <a:buSzPts val="2400"/>
                        <a:buFont typeface="Calibri"/>
                        <a:buAutoNum type="arabicPeriod"/>
                      </a:pPr>
                      <a:r>
                        <a:rPr b="0" i="0" lang="en-US" sz="2400" u="none">
                          <a:solidFill>
                            <a:srgbClr val="000000"/>
                          </a:solidFill>
                          <a:latin typeface="Calibri"/>
                          <a:ea typeface="Calibri"/>
                          <a:cs typeface="Calibri"/>
                          <a:sym typeface="Calibri"/>
                        </a:rPr>
                        <a:t>Student in each group discuss the topic and share their views in terms of some examples</a:t>
                      </a:r>
                      <a:r>
                        <a:rPr b="1" i="0" lang="en-US" sz="2400" u="none">
                          <a:solidFill>
                            <a:srgbClr val="000000"/>
                          </a:solidFill>
                          <a:latin typeface="Calibri"/>
                          <a:ea typeface="Calibri"/>
                          <a:cs typeface="Calibri"/>
                          <a:sym typeface="Calibri"/>
                        </a:rPr>
                        <a:t>.(4M)</a:t>
                      </a:r>
                      <a:endParaRPr/>
                    </a:p>
                    <a:p>
                      <a:pPr indent="-342900" lvl="0" marL="342900" marR="0" rtl="0" algn="l">
                        <a:lnSpc>
                          <a:spcPct val="100000"/>
                        </a:lnSpc>
                        <a:spcBef>
                          <a:spcPts val="0"/>
                        </a:spcBef>
                        <a:spcAft>
                          <a:spcPts val="0"/>
                        </a:spcAft>
                        <a:buClr>
                          <a:srgbClr val="000000"/>
                        </a:buClr>
                        <a:buSzPts val="2400"/>
                        <a:buFont typeface="Calibri"/>
                        <a:buAutoNum type="arabicPeriod"/>
                      </a:pPr>
                      <a:r>
                        <a:rPr b="0" i="0" lang="en-US" sz="2400" u="none">
                          <a:solidFill>
                            <a:srgbClr val="000000"/>
                          </a:solidFill>
                          <a:latin typeface="Calibri"/>
                          <a:ea typeface="Calibri"/>
                          <a:cs typeface="Calibri"/>
                          <a:sym typeface="Calibri"/>
                        </a:rPr>
                        <a:t>Prepare the list of Subjective(2)and objectives questions(5).(</a:t>
                      </a:r>
                      <a:r>
                        <a:rPr b="1" i="0" lang="en-US" sz="2400" u="none">
                          <a:solidFill>
                            <a:srgbClr val="000000"/>
                          </a:solidFill>
                          <a:latin typeface="Calibri"/>
                          <a:ea typeface="Calibri"/>
                          <a:cs typeface="Calibri"/>
                          <a:sym typeface="Calibri"/>
                        </a:rPr>
                        <a:t>4M</a:t>
                      </a:r>
                      <a:r>
                        <a:rPr b="0" i="0" lang="en-US" sz="2400" u="none">
                          <a:solidFill>
                            <a:srgbClr val="000000"/>
                          </a:solidFill>
                          <a:latin typeface="Calibri"/>
                          <a:ea typeface="Calibri"/>
                          <a:cs typeface="Calibri"/>
                          <a:sym typeface="Calibri"/>
                        </a:rPr>
                        <a:t>)</a:t>
                      </a:r>
                      <a:endParaRPr/>
                    </a:p>
                    <a:p>
                      <a:pPr indent="-342900" lvl="0" marL="342900" marR="0" rtl="0" algn="l">
                        <a:lnSpc>
                          <a:spcPct val="100000"/>
                        </a:lnSpc>
                        <a:spcBef>
                          <a:spcPts val="0"/>
                        </a:spcBef>
                        <a:spcAft>
                          <a:spcPts val="0"/>
                        </a:spcAft>
                        <a:buClr>
                          <a:srgbClr val="000000"/>
                        </a:buClr>
                        <a:buSzPts val="2400"/>
                        <a:buFont typeface="Calibri"/>
                        <a:buAutoNum type="arabicPeriod"/>
                      </a:pPr>
                      <a:r>
                        <a:rPr b="0" i="0" lang="en-US" sz="2400" u="none">
                          <a:solidFill>
                            <a:srgbClr val="000000"/>
                          </a:solidFill>
                          <a:latin typeface="Calibri"/>
                          <a:ea typeface="Calibri"/>
                          <a:cs typeface="Calibri"/>
                          <a:sym typeface="Calibri"/>
                        </a:rPr>
                        <a:t>Present their topic in front of all students.(</a:t>
                      </a:r>
                      <a:r>
                        <a:rPr b="1" i="0" lang="en-US" sz="2400" u="none">
                          <a:solidFill>
                            <a:srgbClr val="000000"/>
                          </a:solidFill>
                          <a:latin typeface="Calibri"/>
                          <a:ea typeface="Calibri"/>
                          <a:cs typeface="Calibri"/>
                          <a:sym typeface="Calibri"/>
                        </a:rPr>
                        <a:t>4M)-</a:t>
                      </a:r>
                      <a:r>
                        <a:rPr b="0" i="0" lang="en-US" sz="2400" u="none">
                          <a:solidFill>
                            <a:srgbClr val="000000"/>
                          </a:solidFill>
                          <a:latin typeface="Calibri"/>
                          <a:ea typeface="Calibri"/>
                          <a:cs typeface="Calibri"/>
                          <a:sym typeface="Calibri"/>
                        </a:rPr>
                        <a:t>in a group.</a:t>
                      </a:r>
                      <a:endParaRPr/>
                    </a:p>
                    <a:p>
                      <a:pPr indent="-342900" lvl="0" marL="342900" marR="0" rtl="0" algn="l">
                        <a:lnSpc>
                          <a:spcPct val="100000"/>
                        </a:lnSpc>
                        <a:spcBef>
                          <a:spcPts val="0"/>
                        </a:spcBef>
                        <a:spcAft>
                          <a:spcPts val="0"/>
                        </a:spcAft>
                        <a:buClr>
                          <a:srgbClr val="000000"/>
                        </a:buClr>
                        <a:buSzPts val="2400"/>
                        <a:buFont typeface="Calibri"/>
                        <a:buAutoNum type="arabicPeriod"/>
                      </a:pPr>
                      <a:r>
                        <a:rPr b="0" i="0" lang="en-US" sz="2400" u="none">
                          <a:solidFill>
                            <a:srgbClr val="000000"/>
                          </a:solidFill>
                          <a:latin typeface="Calibri"/>
                          <a:ea typeface="Calibri"/>
                          <a:cs typeface="Calibri"/>
                          <a:sym typeface="Calibri"/>
                        </a:rPr>
                        <a:t>Solve the any subjective questions (excluding question of parent group) circulated by all group</a:t>
                      </a:r>
                      <a:r>
                        <a:rPr b="1" i="0" lang="en-US" sz="2400" u="none">
                          <a:solidFill>
                            <a:srgbClr val="000000"/>
                          </a:solidFill>
                          <a:latin typeface="Calibri"/>
                          <a:ea typeface="Calibri"/>
                          <a:cs typeface="Calibri"/>
                          <a:sym typeface="Calibri"/>
                        </a:rPr>
                        <a:t>.(6M)</a:t>
                      </a:r>
                      <a:endParaRPr/>
                    </a:p>
                    <a:p>
                      <a:pPr indent="-342900" lvl="0" marL="342900" marR="0" rtl="0" algn="l">
                        <a:lnSpc>
                          <a:spcPct val="100000"/>
                        </a:lnSpc>
                        <a:spcBef>
                          <a:spcPts val="0"/>
                        </a:spcBef>
                        <a:spcAft>
                          <a:spcPts val="0"/>
                        </a:spcAft>
                        <a:buClr>
                          <a:srgbClr val="000000"/>
                        </a:buClr>
                        <a:buSzPts val="2400"/>
                        <a:buFont typeface="Calibri"/>
                        <a:buAutoNum type="arabicPeriod"/>
                      </a:pPr>
                      <a:r>
                        <a:rPr b="1" i="0" lang="en-US" sz="2400" u="none">
                          <a:solidFill>
                            <a:srgbClr val="000000"/>
                          </a:solidFill>
                          <a:latin typeface="Calibri"/>
                          <a:ea typeface="Calibri"/>
                          <a:cs typeface="Calibri"/>
                          <a:sym typeface="Calibri"/>
                        </a:rPr>
                        <a:t>Solve Quiz (11/8/2018) on moodle (12M)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r>
              <a:tr h="457200">
                <a:tc>
                  <a:txBody>
                    <a:bodyPr/>
                    <a:lstStyle/>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7"/>
                    </a:solidFill>
                  </a:tcPr>
                </a:tc>
                <a:tc>
                  <a:txBody>
                    <a:bodyPr/>
                    <a:lstStyle/>
                    <a:p>
                      <a:pPr indent="0" lvl="0" marL="0" marR="0" rtl="0" algn="l">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Process States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7"/>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7"/>
                    </a:solidFill>
                  </a:tcPr>
                </a:tc>
                <a:tc vMerge="1"/>
              </a:tr>
              <a:tr h="823900">
                <a:tc>
                  <a:txBody>
                    <a:bodyPr/>
                    <a:lstStyle/>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a:txBody>
                    <a:bodyPr/>
                    <a:lstStyle/>
                    <a:p>
                      <a:pPr indent="0" lvl="0" marL="0" marR="0" rtl="0" algn="l">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Process Control Blocks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vMerge="1"/>
              </a:tr>
              <a:tr h="822325">
                <a:tc>
                  <a:txBody>
                    <a:bodyPr/>
                    <a:lstStyle/>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7"/>
                    </a:solidFill>
                  </a:tcPr>
                </a:tc>
                <a:tc>
                  <a:txBody>
                    <a:bodyPr/>
                    <a:lstStyle/>
                    <a:p>
                      <a:pPr indent="0" lvl="0" marL="0" marR="0" rtl="0" algn="l">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Process Context Switch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7"/>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7"/>
                    </a:solidFill>
                  </a:tcPr>
                </a:tc>
                <a:tc vMerge="1"/>
              </a:tr>
              <a:tr h="1920875">
                <a:tc>
                  <a:txBody>
                    <a:bodyPr/>
                    <a:lstStyle/>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a:txBody>
                    <a:bodyPr/>
                    <a:lstStyle/>
                    <a:p>
                      <a:pPr indent="0" lvl="0" marL="0" marR="0" rtl="0" algn="l">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Process Scheduler</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a:txBody>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EF"/>
                    </a:solidFill>
                  </a:tcPr>
                </a:tc>
                <a:tc v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